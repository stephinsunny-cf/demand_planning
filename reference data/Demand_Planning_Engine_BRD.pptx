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1958" y="-16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9077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8686800" y="0"/>
            <a:ext cx="3474720" cy="3200400"/>
          </a:xfrm>
          <a:prstGeom prst="rect">
            <a:avLst/>
          </a:prstGeom>
          <a:solidFill>
            <a:srgbClr val="1A56C4">
              <a:alpha val="30000"/>
            </a:srgbClr>
          </a:solidFill>
          <a:ln w="12700">
            <a:solidFill>
              <a:srgbClr val="1A56C4">
                <a:alpha val="30000"/>
              </a:srgbClr>
            </a:solidFill>
            <a:prstDash val="solid"/>
          </a:ln>
        </p:spPr>
      </p:sp>
      <p:sp>
        <p:nvSpPr>
          <p:cNvPr id="3" name="Shape 1"/>
          <p:cNvSpPr/>
          <p:nvPr/>
        </p:nvSpPr>
        <p:spPr>
          <a:xfrm>
            <a:off x="9601200" y="0"/>
            <a:ext cx="2560320" cy="6858000"/>
          </a:xfrm>
          <a:prstGeom prst="rect">
            <a:avLst/>
          </a:prstGeom>
          <a:solidFill>
            <a:srgbClr val="3B82F6">
              <a:alpha val="15000"/>
            </a:srgbClr>
          </a:solidFill>
          <a:ln w="12700">
            <a:solidFill>
              <a:srgbClr val="3B82F6">
                <a:alpha val="15000"/>
              </a:srgbClr>
            </a:solidFill>
            <a:prstDash val="solid"/>
          </a:ln>
        </p:spPr>
      </p:sp>
      <p:sp>
        <p:nvSpPr>
          <p:cNvPr id="4" name="Text 2"/>
          <p:cNvSpPr/>
          <p:nvPr/>
        </p:nvSpPr>
        <p:spPr>
          <a:xfrm>
            <a:off x="640080" y="1371600"/>
            <a:ext cx="8686800" cy="640080"/>
          </a:xfrm>
          <a:prstGeom prst="rect">
            <a:avLst/>
          </a:prstGeom>
          <a:noFill/>
          <a:ln/>
        </p:spPr>
        <p:txBody>
          <a:bodyPr wrap="square" rtlCol="0" anchor="ctr"/>
          <a:lstStyle/>
          <a:p>
            <a:pPr marL="0" indent="0">
              <a:buNone/>
            </a:pPr>
            <a:r>
              <a:rPr lang="en-US" sz="3600" b="1" kern="0" spc="300" dirty="0">
                <a:solidFill>
                  <a:srgbClr val="FFFFFF"/>
                </a:solidFill>
                <a:latin typeface="Trebuchet MS" pitchFamily="34" charset="0"/>
                <a:ea typeface="Trebuchet MS" pitchFamily="34" charset="-122"/>
                <a:cs typeface="Trebuchet MS" pitchFamily="34" charset="-120"/>
              </a:rPr>
              <a:t>DEMAND PLANNING ENGINE</a:t>
            </a:r>
            <a:endParaRPr lang="en-US" sz="3600" dirty="0"/>
          </a:p>
        </p:txBody>
      </p:sp>
      <p:sp>
        <p:nvSpPr>
          <p:cNvPr id="5" name="Text 3"/>
          <p:cNvSpPr/>
          <p:nvPr/>
        </p:nvSpPr>
        <p:spPr>
          <a:xfrm>
            <a:off x="640080" y="2057400"/>
            <a:ext cx="8686800" cy="411480"/>
          </a:xfrm>
          <a:prstGeom prst="rect">
            <a:avLst/>
          </a:prstGeom>
          <a:noFill/>
          <a:ln/>
        </p:spPr>
        <p:txBody>
          <a:bodyPr wrap="square" rtlCol="0" anchor="ctr"/>
          <a:lstStyle/>
          <a:p>
            <a:pPr marL="0" indent="0">
              <a:buNone/>
            </a:pPr>
            <a:r>
              <a:rPr lang="en-US" sz="1600" i="1" dirty="0">
                <a:solidFill>
                  <a:srgbClr val="BFDBFE"/>
                </a:solidFill>
                <a:latin typeface="Calibri" pitchFamily="34" charset="0"/>
                <a:ea typeface="Calibri" pitchFamily="34" charset="-122"/>
                <a:cs typeface="Calibri" pitchFamily="34" charset="-120"/>
              </a:rPr>
              <a:t>Business Requirement &amp; Solution Architecture Document</a:t>
            </a:r>
            <a:endParaRPr lang="en-US" sz="1600" dirty="0"/>
          </a:p>
        </p:txBody>
      </p:sp>
      <p:sp>
        <p:nvSpPr>
          <p:cNvPr id="6" name="Shape 4"/>
          <p:cNvSpPr/>
          <p:nvPr/>
        </p:nvSpPr>
        <p:spPr>
          <a:xfrm>
            <a:off x="640080" y="2743200"/>
            <a:ext cx="2514600" cy="347472"/>
          </a:xfrm>
          <a:prstGeom prst="roundRect">
            <a:avLst>
              <a:gd name="adj" fmla="val 13158"/>
            </a:avLst>
          </a:prstGeom>
          <a:solidFill>
            <a:srgbClr val="1A56C4">
              <a:alpha val="40000"/>
            </a:srgbClr>
          </a:solidFill>
          <a:ln w="12700">
            <a:solidFill>
              <a:srgbClr val="3B82F6"/>
            </a:solidFill>
            <a:prstDash val="solid"/>
          </a:ln>
        </p:spPr>
      </p:sp>
      <p:sp>
        <p:nvSpPr>
          <p:cNvPr id="7" name="Text 5"/>
          <p:cNvSpPr/>
          <p:nvPr/>
        </p:nvSpPr>
        <p:spPr>
          <a:xfrm>
            <a:off x="640080" y="2743200"/>
            <a:ext cx="251460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Metabase Integration</a:t>
            </a:r>
            <a:endParaRPr lang="en-US" sz="1000" dirty="0"/>
          </a:p>
        </p:txBody>
      </p:sp>
      <p:sp>
        <p:nvSpPr>
          <p:cNvPr id="8" name="Shape 6"/>
          <p:cNvSpPr/>
          <p:nvPr/>
        </p:nvSpPr>
        <p:spPr>
          <a:xfrm>
            <a:off x="3337560" y="2743200"/>
            <a:ext cx="2514600" cy="347472"/>
          </a:xfrm>
          <a:prstGeom prst="roundRect">
            <a:avLst>
              <a:gd name="adj" fmla="val 13158"/>
            </a:avLst>
          </a:prstGeom>
          <a:solidFill>
            <a:srgbClr val="1A56C4">
              <a:alpha val="40000"/>
            </a:srgbClr>
          </a:solidFill>
          <a:ln w="12700">
            <a:solidFill>
              <a:srgbClr val="3B82F6"/>
            </a:solidFill>
            <a:prstDash val="solid"/>
          </a:ln>
        </p:spPr>
      </p:sp>
      <p:sp>
        <p:nvSpPr>
          <p:cNvPr id="9" name="Text 7"/>
          <p:cNvSpPr/>
          <p:nvPr/>
        </p:nvSpPr>
        <p:spPr>
          <a:xfrm>
            <a:off x="3337560" y="2743200"/>
            <a:ext cx="251460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SupplyNote Integration</a:t>
            </a:r>
            <a:endParaRPr lang="en-US" sz="1000" dirty="0"/>
          </a:p>
        </p:txBody>
      </p:sp>
      <p:sp>
        <p:nvSpPr>
          <p:cNvPr id="10" name="Shape 8"/>
          <p:cNvSpPr/>
          <p:nvPr/>
        </p:nvSpPr>
        <p:spPr>
          <a:xfrm>
            <a:off x="6035040" y="2743200"/>
            <a:ext cx="2514600" cy="347472"/>
          </a:xfrm>
          <a:prstGeom prst="roundRect">
            <a:avLst>
              <a:gd name="adj" fmla="val 13158"/>
            </a:avLst>
          </a:prstGeom>
          <a:solidFill>
            <a:srgbClr val="1A56C4">
              <a:alpha val="40000"/>
            </a:srgbClr>
          </a:solidFill>
          <a:ln w="12700">
            <a:solidFill>
              <a:srgbClr val="3B82F6"/>
            </a:solidFill>
            <a:prstDash val="solid"/>
          </a:ln>
        </p:spPr>
      </p:sp>
      <p:sp>
        <p:nvSpPr>
          <p:cNvPr id="11" name="Text 9"/>
          <p:cNvSpPr/>
          <p:nvPr/>
        </p:nvSpPr>
        <p:spPr>
          <a:xfrm>
            <a:off x="6035040" y="2743200"/>
            <a:ext cx="2514600" cy="347472"/>
          </a:xfrm>
          <a:prstGeom prst="rect">
            <a:avLst/>
          </a:prstGeom>
          <a:noFill/>
          <a:ln/>
        </p:spPr>
        <p:txBody>
          <a:bodyPr wrap="square"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AI-Ready Architecture</a:t>
            </a:r>
            <a:endParaRPr lang="en-US" sz="1000" dirty="0"/>
          </a:p>
        </p:txBody>
      </p:sp>
      <p:sp>
        <p:nvSpPr>
          <p:cNvPr id="14" name="Shape 12"/>
          <p:cNvSpPr/>
          <p:nvPr/>
        </p:nvSpPr>
        <p:spPr>
          <a:xfrm>
            <a:off x="0" y="6217920"/>
            <a:ext cx="12161520" cy="640080"/>
          </a:xfrm>
          <a:prstGeom prst="rect">
            <a:avLst/>
          </a:prstGeom>
          <a:solidFill>
            <a:srgbClr val="1A56C4">
              <a:alpha val="50000"/>
            </a:srgbClr>
          </a:solidFill>
          <a:ln w="12700">
            <a:solidFill>
              <a:srgbClr val="1A56C4">
                <a:alpha val="50000"/>
              </a:srgbClr>
            </a:solidFill>
            <a:prstDash val="solid"/>
          </a:ln>
        </p:spPr>
        <p:txBody>
          <a:bodyPr/>
          <a:lstStyle/>
          <a:p>
            <a:endParaRPr lang="en-US" dirty="0"/>
          </a:p>
        </p:txBody>
      </p:sp>
      <p:sp>
        <p:nvSpPr>
          <p:cNvPr id="15" name="Text 13"/>
          <p:cNvSpPr/>
          <p:nvPr/>
        </p:nvSpPr>
        <p:spPr>
          <a:xfrm>
            <a:off x="457200" y="6236208"/>
            <a:ext cx="11247120" cy="320040"/>
          </a:xfrm>
          <a:prstGeom prst="rect">
            <a:avLst/>
          </a:prstGeom>
          <a:noFill/>
          <a:ln/>
        </p:spPr>
        <p:txBody>
          <a:bodyPr wrap="square" rtlCol="0" anchor="ctr"/>
          <a:lstStyle/>
          <a:p>
            <a:pPr marL="0" indent="0" algn="ctr">
              <a:buNone/>
            </a:pPr>
            <a:endParaRPr lang="en-US" sz="1000" dirty="0"/>
          </a:p>
        </p:txBody>
      </p:sp>
      <p:sp>
        <p:nvSpPr>
          <p:cNvPr id="16" name="Shape 14"/>
          <p:cNvSpPr/>
          <p:nvPr/>
        </p:nvSpPr>
        <p:spPr>
          <a:xfrm>
            <a:off x="640080" y="3840480"/>
            <a:ext cx="2468880" cy="777240"/>
          </a:xfrm>
          <a:prstGeom prst="rect">
            <a:avLst/>
          </a:prstGeom>
          <a:solidFill>
            <a:srgbClr val="FFFFFF">
              <a:alpha val="10000"/>
            </a:srgbClr>
          </a:solidFill>
          <a:ln w="12700">
            <a:solidFill>
              <a:srgbClr val="FFFFFF">
                <a:alpha val="30000"/>
              </a:srgbClr>
            </a:solidFill>
            <a:prstDash val="solid"/>
          </a:ln>
        </p:spPr>
      </p:sp>
      <p:sp>
        <p:nvSpPr>
          <p:cNvPr id="17" name="Text 15"/>
          <p:cNvSpPr/>
          <p:nvPr/>
        </p:nvSpPr>
        <p:spPr>
          <a:xfrm>
            <a:off x="640080" y="3877056"/>
            <a:ext cx="2468880" cy="365760"/>
          </a:xfrm>
          <a:prstGeom prst="rect">
            <a:avLst/>
          </a:prstGeom>
          <a:noFill/>
          <a:ln/>
        </p:spPr>
        <p:txBody>
          <a:bodyPr wrap="square"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6 Modules</a:t>
            </a:r>
            <a:endParaRPr lang="en-US" sz="2200" dirty="0"/>
          </a:p>
        </p:txBody>
      </p:sp>
      <p:sp>
        <p:nvSpPr>
          <p:cNvPr id="18" name="Text 16"/>
          <p:cNvSpPr/>
          <p:nvPr/>
        </p:nvSpPr>
        <p:spPr>
          <a:xfrm>
            <a:off x="640080" y="4242816"/>
            <a:ext cx="2468880" cy="32004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End-to-End Coverage</a:t>
            </a:r>
            <a:endParaRPr lang="en-US" sz="900" dirty="0"/>
          </a:p>
        </p:txBody>
      </p:sp>
      <p:sp>
        <p:nvSpPr>
          <p:cNvPr id="19" name="Shape 17"/>
          <p:cNvSpPr/>
          <p:nvPr/>
        </p:nvSpPr>
        <p:spPr>
          <a:xfrm>
            <a:off x="3383280" y="3840480"/>
            <a:ext cx="2468880" cy="777240"/>
          </a:xfrm>
          <a:prstGeom prst="rect">
            <a:avLst/>
          </a:prstGeom>
          <a:solidFill>
            <a:srgbClr val="FFFFFF">
              <a:alpha val="10000"/>
            </a:srgbClr>
          </a:solidFill>
          <a:ln w="12700">
            <a:solidFill>
              <a:srgbClr val="FFFFFF">
                <a:alpha val="30000"/>
              </a:srgbClr>
            </a:solidFill>
            <a:prstDash val="solid"/>
          </a:ln>
        </p:spPr>
      </p:sp>
      <p:sp>
        <p:nvSpPr>
          <p:cNvPr id="20" name="Text 18"/>
          <p:cNvSpPr/>
          <p:nvPr/>
        </p:nvSpPr>
        <p:spPr>
          <a:xfrm>
            <a:off x="3383280" y="3877056"/>
            <a:ext cx="2468880" cy="365760"/>
          </a:xfrm>
          <a:prstGeom prst="rect">
            <a:avLst/>
          </a:prstGeom>
          <a:noFill/>
          <a:ln/>
        </p:spPr>
        <p:txBody>
          <a:bodyPr wrap="square"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3–4 Months</a:t>
            </a:r>
            <a:endParaRPr lang="en-US" sz="2200" dirty="0"/>
          </a:p>
        </p:txBody>
      </p:sp>
      <p:sp>
        <p:nvSpPr>
          <p:cNvPr id="21" name="Text 19"/>
          <p:cNvSpPr/>
          <p:nvPr/>
        </p:nvSpPr>
        <p:spPr>
          <a:xfrm>
            <a:off x="3383280" y="4242816"/>
            <a:ext cx="2468880" cy="32004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With Small Team</a:t>
            </a:r>
            <a:endParaRPr lang="en-US" sz="900" dirty="0"/>
          </a:p>
        </p:txBody>
      </p:sp>
      <p:sp>
        <p:nvSpPr>
          <p:cNvPr id="22" name="Shape 20"/>
          <p:cNvSpPr/>
          <p:nvPr/>
        </p:nvSpPr>
        <p:spPr>
          <a:xfrm>
            <a:off x="6126480" y="3840480"/>
            <a:ext cx="2468880" cy="777240"/>
          </a:xfrm>
          <a:prstGeom prst="rect">
            <a:avLst/>
          </a:prstGeom>
          <a:solidFill>
            <a:srgbClr val="FFFFFF">
              <a:alpha val="10000"/>
            </a:srgbClr>
          </a:solidFill>
          <a:ln w="12700">
            <a:solidFill>
              <a:srgbClr val="FFFFFF">
                <a:alpha val="30000"/>
              </a:srgbClr>
            </a:solidFill>
            <a:prstDash val="solid"/>
          </a:ln>
        </p:spPr>
      </p:sp>
      <p:sp>
        <p:nvSpPr>
          <p:cNvPr id="23" name="Text 21"/>
          <p:cNvSpPr/>
          <p:nvPr/>
        </p:nvSpPr>
        <p:spPr>
          <a:xfrm>
            <a:off x="6126480" y="3877056"/>
            <a:ext cx="2468880" cy="365760"/>
          </a:xfrm>
          <a:prstGeom prst="rect">
            <a:avLst/>
          </a:prstGeom>
          <a:noFill/>
          <a:ln/>
        </p:spPr>
        <p:txBody>
          <a:bodyPr wrap="square"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85–90%</a:t>
            </a:r>
            <a:endParaRPr lang="en-US" sz="2200" dirty="0"/>
          </a:p>
        </p:txBody>
      </p:sp>
      <p:sp>
        <p:nvSpPr>
          <p:cNvPr id="24" name="Text 22"/>
          <p:cNvSpPr/>
          <p:nvPr/>
        </p:nvSpPr>
        <p:spPr>
          <a:xfrm>
            <a:off x="6126480" y="4242816"/>
            <a:ext cx="2468880" cy="32004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Target Forecast Accuracy</a:t>
            </a:r>
            <a:endParaRPr lang="en-US" sz="900" dirty="0"/>
          </a:p>
        </p:txBody>
      </p:sp>
      <p:sp>
        <p:nvSpPr>
          <p:cNvPr id="25" name="Shape 23"/>
          <p:cNvSpPr/>
          <p:nvPr/>
        </p:nvSpPr>
        <p:spPr>
          <a:xfrm>
            <a:off x="8869680" y="3840480"/>
            <a:ext cx="2468880" cy="777240"/>
          </a:xfrm>
          <a:prstGeom prst="rect">
            <a:avLst/>
          </a:prstGeom>
          <a:solidFill>
            <a:srgbClr val="FFFFFF">
              <a:alpha val="10000"/>
            </a:srgbClr>
          </a:solidFill>
          <a:ln w="12700">
            <a:solidFill>
              <a:srgbClr val="FFFFFF">
                <a:alpha val="30000"/>
              </a:srgbClr>
            </a:solidFill>
            <a:prstDash val="solid"/>
          </a:ln>
        </p:spPr>
      </p:sp>
      <p:sp>
        <p:nvSpPr>
          <p:cNvPr id="26" name="Text 24"/>
          <p:cNvSpPr/>
          <p:nvPr/>
        </p:nvSpPr>
        <p:spPr>
          <a:xfrm>
            <a:off x="8869680" y="3877056"/>
            <a:ext cx="2468880" cy="365760"/>
          </a:xfrm>
          <a:prstGeom prst="rect">
            <a:avLst/>
          </a:prstGeom>
          <a:noFill/>
          <a:ln/>
        </p:spPr>
        <p:txBody>
          <a:bodyPr wrap="square"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80%</a:t>
            </a:r>
            <a:endParaRPr lang="en-US" sz="2200" dirty="0"/>
          </a:p>
        </p:txBody>
      </p:sp>
      <p:sp>
        <p:nvSpPr>
          <p:cNvPr id="27" name="Text 25"/>
          <p:cNvSpPr/>
          <p:nvPr/>
        </p:nvSpPr>
        <p:spPr>
          <a:xfrm>
            <a:off x="8869680" y="4242816"/>
            <a:ext cx="2468880" cy="32004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Reduction in Manual Effort</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685800"/>
          </a:xfrm>
          <a:prstGeom prst="rect">
            <a:avLst/>
          </a:prstGeom>
          <a:solidFill>
            <a:srgbClr val="1A56C4"/>
          </a:solidFill>
          <a:ln w="12700">
            <a:solidFill>
              <a:srgbClr val="1A56C4"/>
            </a:solidFill>
            <a:prstDash val="solid"/>
          </a:ln>
        </p:spPr>
      </p:sp>
      <p:sp>
        <p:nvSpPr>
          <p:cNvPr id="3" name="Text 1"/>
          <p:cNvSpPr/>
          <p:nvPr/>
        </p:nvSpPr>
        <p:spPr>
          <a:xfrm>
            <a:off x="475488" y="201168"/>
            <a:ext cx="11338560" cy="411480"/>
          </a:xfrm>
          <a:prstGeom prst="rect">
            <a:avLst/>
          </a:prstGeom>
          <a:noFill/>
          <a:ln/>
        </p:spPr>
        <p:txBody>
          <a:bodyPr wrap="square" lIns="0" tIns="0" rIns="0" bIns="0" rtlCol="0" anchor="ctr"/>
          <a:lstStyle/>
          <a:p>
            <a:pPr marL="0" indent="0">
              <a:buNone/>
            </a:pPr>
            <a:r>
              <a:rPr lang="en-US" sz="2200" b="1" dirty="0">
                <a:solidFill>
                  <a:srgbClr val="0D1B3E"/>
                </a:solidFill>
                <a:latin typeface="Trebuchet MS" pitchFamily="34" charset="0"/>
                <a:ea typeface="Trebuchet MS" pitchFamily="34" charset="-122"/>
                <a:cs typeface="Trebuchet MS" pitchFamily="34" charset="-120"/>
              </a:rPr>
              <a:t>Current State: The Problem We Are Solving</a:t>
            </a:r>
            <a:endParaRPr lang="en-US" sz="2200" dirty="0"/>
          </a:p>
        </p:txBody>
      </p:sp>
      <p:sp>
        <p:nvSpPr>
          <p:cNvPr id="4" name="Text 2"/>
          <p:cNvSpPr/>
          <p:nvPr/>
        </p:nvSpPr>
        <p:spPr>
          <a:xfrm>
            <a:off x="475488" y="566928"/>
            <a:ext cx="113385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Why manual planning is no longer viable at scale</a:t>
            </a:r>
            <a:endParaRPr lang="en-US" sz="1200" dirty="0"/>
          </a:p>
        </p:txBody>
      </p:sp>
      <p:sp>
        <p:nvSpPr>
          <p:cNvPr id="5" name="Shape 3"/>
          <p:cNvSpPr/>
          <p:nvPr/>
        </p:nvSpPr>
        <p:spPr>
          <a:xfrm>
            <a:off x="320040" y="960120"/>
            <a:ext cx="11521440" cy="0"/>
          </a:xfrm>
          <a:prstGeom prst="line">
            <a:avLst/>
          </a:prstGeom>
          <a:noFill/>
          <a:ln w="9525">
            <a:solidFill>
              <a:srgbClr val="E2E8F0"/>
            </a:solidFill>
            <a:prstDash val="solid"/>
          </a:ln>
        </p:spPr>
      </p:sp>
      <p:sp>
        <p:nvSpPr>
          <p:cNvPr id="6" name="Shape 4"/>
          <p:cNvSpPr/>
          <p:nvPr/>
        </p:nvSpPr>
        <p:spPr>
          <a:xfrm>
            <a:off x="320040" y="1097280"/>
            <a:ext cx="5486400" cy="246888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7" name="Text 5"/>
          <p:cNvSpPr/>
          <p:nvPr/>
        </p:nvSpPr>
        <p:spPr>
          <a:xfrm>
            <a:off x="502920" y="1170432"/>
            <a:ext cx="5120640" cy="274320"/>
          </a:xfrm>
          <a:prstGeom prst="rect">
            <a:avLst/>
          </a:prstGeom>
          <a:noFill/>
          <a:ln/>
        </p:spPr>
        <p:txBody>
          <a:bodyPr wrap="square" rtlCol="0" anchor="ctr"/>
          <a:lstStyle/>
          <a:p>
            <a:pPr marL="0" indent="0">
              <a:buNone/>
            </a:pPr>
            <a:r>
              <a:rPr lang="en-US" sz="1100" b="1" kern="0" spc="100" dirty="0">
                <a:solidFill>
                  <a:srgbClr val="0D1B3E"/>
                </a:solidFill>
                <a:latin typeface="Trebuchet MS" pitchFamily="34" charset="0"/>
                <a:ea typeface="Trebuchet MS" pitchFamily="34" charset="-122"/>
                <a:cs typeface="Trebuchet MS" pitchFamily="34" charset="-120"/>
              </a:rPr>
              <a:t>CURRENT PROCESS</a:t>
            </a:r>
            <a:endParaRPr lang="en-US" sz="1100" dirty="0"/>
          </a:p>
        </p:txBody>
      </p:sp>
      <p:sp>
        <p:nvSpPr>
          <p:cNvPr id="8" name="Shape 6"/>
          <p:cNvSpPr/>
          <p:nvPr/>
        </p:nvSpPr>
        <p:spPr>
          <a:xfrm>
            <a:off x="438912" y="1508760"/>
            <a:ext cx="237744" cy="237744"/>
          </a:xfrm>
          <a:prstGeom prst="ellipse">
            <a:avLst/>
          </a:prstGeom>
          <a:solidFill>
            <a:srgbClr val="DC2626"/>
          </a:solidFill>
          <a:ln w="12700">
            <a:solidFill>
              <a:srgbClr val="DC2626"/>
            </a:solidFill>
            <a:prstDash val="solid"/>
          </a:ln>
        </p:spPr>
      </p:sp>
      <p:sp>
        <p:nvSpPr>
          <p:cNvPr id="9" name="Text 7"/>
          <p:cNvSpPr/>
          <p:nvPr/>
        </p:nvSpPr>
        <p:spPr>
          <a:xfrm>
            <a:off x="438912" y="1508760"/>
            <a:ext cx="237744"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 name="Text 8"/>
          <p:cNvSpPr/>
          <p:nvPr/>
        </p:nvSpPr>
        <p:spPr>
          <a:xfrm>
            <a:off x="749808" y="1508760"/>
            <a:ext cx="2011680" cy="237744"/>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Manual Excel Forecasting</a:t>
            </a:r>
            <a:endParaRPr lang="en-US" sz="1000" dirty="0"/>
          </a:p>
        </p:txBody>
      </p:sp>
      <p:sp>
        <p:nvSpPr>
          <p:cNvPr id="11" name="Text 9"/>
          <p:cNvSpPr/>
          <p:nvPr/>
        </p:nvSpPr>
        <p:spPr>
          <a:xfrm>
            <a:off x="2743200" y="1508760"/>
            <a:ext cx="2834640" cy="237744"/>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Planner judgment, no statistical model</a:t>
            </a:r>
            <a:endParaRPr lang="en-US" sz="900" dirty="0"/>
          </a:p>
        </p:txBody>
      </p:sp>
      <p:sp>
        <p:nvSpPr>
          <p:cNvPr id="12" name="Shape 10"/>
          <p:cNvSpPr/>
          <p:nvPr/>
        </p:nvSpPr>
        <p:spPr>
          <a:xfrm>
            <a:off x="438912" y="1911096"/>
            <a:ext cx="237744" cy="237744"/>
          </a:xfrm>
          <a:prstGeom prst="ellipse">
            <a:avLst/>
          </a:prstGeom>
          <a:solidFill>
            <a:srgbClr val="DC2626"/>
          </a:solidFill>
          <a:ln w="12700">
            <a:solidFill>
              <a:srgbClr val="DC2626"/>
            </a:solidFill>
            <a:prstDash val="solid"/>
          </a:ln>
        </p:spPr>
      </p:sp>
      <p:sp>
        <p:nvSpPr>
          <p:cNvPr id="13" name="Text 11"/>
          <p:cNvSpPr/>
          <p:nvPr/>
        </p:nvSpPr>
        <p:spPr>
          <a:xfrm>
            <a:off x="438912" y="1911096"/>
            <a:ext cx="237744"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749808" y="1911096"/>
            <a:ext cx="2011680" cy="237744"/>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Manual Stock Checks</a:t>
            </a:r>
            <a:endParaRPr lang="en-US" sz="1000" dirty="0"/>
          </a:p>
        </p:txBody>
      </p:sp>
      <p:sp>
        <p:nvSpPr>
          <p:cNvPr id="15" name="Text 13"/>
          <p:cNvSpPr/>
          <p:nvPr/>
        </p:nvSpPr>
        <p:spPr>
          <a:xfrm>
            <a:off x="2743200" y="1911096"/>
            <a:ext cx="2834640" cy="237744"/>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WhatsApp / calls to warehouse team</a:t>
            </a:r>
            <a:endParaRPr lang="en-US" sz="900" dirty="0"/>
          </a:p>
        </p:txBody>
      </p:sp>
      <p:sp>
        <p:nvSpPr>
          <p:cNvPr id="16" name="Shape 14"/>
          <p:cNvSpPr/>
          <p:nvPr/>
        </p:nvSpPr>
        <p:spPr>
          <a:xfrm>
            <a:off x="438912" y="2313432"/>
            <a:ext cx="237744" cy="237744"/>
          </a:xfrm>
          <a:prstGeom prst="ellipse">
            <a:avLst/>
          </a:prstGeom>
          <a:solidFill>
            <a:srgbClr val="DC2626"/>
          </a:solidFill>
          <a:ln w="12700">
            <a:solidFill>
              <a:srgbClr val="DC2626"/>
            </a:solidFill>
            <a:prstDash val="solid"/>
          </a:ln>
        </p:spPr>
      </p:sp>
      <p:sp>
        <p:nvSpPr>
          <p:cNvPr id="17" name="Text 15"/>
          <p:cNvSpPr/>
          <p:nvPr/>
        </p:nvSpPr>
        <p:spPr>
          <a:xfrm>
            <a:off x="438912" y="2313432"/>
            <a:ext cx="237744"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8" name="Text 16"/>
          <p:cNvSpPr/>
          <p:nvPr/>
        </p:nvSpPr>
        <p:spPr>
          <a:xfrm>
            <a:off x="749808" y="2313432"/>
            <a:ext cx="2011680" cy="237744"/>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Reactive Procurement</a:t>
            </a:r>
            <a:endParaRPr lang="en-US" sz="1000" dirty="0"/>
          </a:p>
        </p:txBody>
      </p:sp>
      <p:sp>
        <p:nvSpPr>
          <p:cNvPr id="19" name="Text 17"/>
          <p:cNvSpPr/>
          <p:nvPr/>
        </p:nvSpPr>
        <p:spPr>
          <a:xfrm>
            <a:off x="2743200" y="2313432"/>
            <a:ext cx="2834640" cy="237744"/>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POs raised after stock-out risk noticed</a:t>
            </a:r>
            <a:endParaRPr lang="en-US" sz="900" dirty="0"/>
          </a:p>
        </p:txBody>
      </p:sp>
      <p:sp>
        <p:nvSpPr>
          <p:cNvPr id="20" name="Shape 18"/>
          <p:cNvSpPr/>
          <p:nvPr/>
        </p:nvSpPr>
        <p:spPr>
          <a:xfrm>
            <a:off x="438912" y="2715768"/>
            <a:ext cx="237744" cy="237744"/>
          </a:xfrm>
          <a:prstGeom prst="ellipse">
            <a:avLst/>
          </a:prstGeom>
          <a:solidFill>
            <a:srgbClr val="DC2626"/>
          </a:solidFill>
          <a:ln w="12700">
            <a:solidFill>
              <a:srgbClr val="DC2626"/>
            </a:solidFill>
            <a:prstDash val="solid"/>
          </a:ln>
        </p:spPr>
      </p:sp>
      <p:sp>
        <p:nvSpPr>
          <p:cNvPr id="21" name="Text 19"/>
          <p:cNvSpPr/>
          <p:nvPr/>
        </p:nvSpPr>
        <p:spPr>
          <a:xfrm>
            <a:off x="438912" y="2715768"/>
            <a:ext cx="237744"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2" name="Text 20"/>
          <p:cNvSpPr/>
          <p:nvPr/>
        </p:nvSpPr>
        <p:spPr>
          <a:xfrm>
            <a:off x="749808" y="2715768"/>
            <a:ext cx="2011680" cy="237744"/>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No Integrated Data</a:t>
            </a:r>
            <a:endParaRPr lang="en-US" sz="1000" dirty="0"/>
          </a:p>
        </p:txBody>
      </p:sp>
      <p:sp>
        <p:nvSpPr>
          <p:cNvPr id="23" name="Text 21"/>
          <p:cNvSpPr/>
          <p:nvPr/>
        </p:nvSpPr>
        <p:spPr>
          <a:xfrm>
            <a:off x="2743200" y="2715768"/>
            <a:ext cx="2834640" cy="237744"/>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Sales, stock &amp; recipes in separate systems</a:t>
            </a:r>
            <a:endParaRPr lang="en-US" sz="900" dirty="0"/>
          </a:p>
        </p:txBody>
      </p:sp>
      <p:sp>
        <p:nvSpPr>
          <p:cNvPr id="24" name="Shape 22"/>
          <p:cNvSpPr/>
          <p:nvPr/>
        </p:nvSpPr>
        <p:spPr>
          <a:xfrm>
            <a:off x="438912" y="3118104"/>
            <a:ext cx="237744" cy="237744"/>
          </a:xfrm>
          <a:prstGeom prst="ellipse">
            <a:avLst/>
          </a:prstGeom>
          <a:solidFill>
            <a:srgbClr val="DC2626"/>
          </a:solidFill>
          <a:ln w="12700">
            <a:solidFill>
              <a:srgbClr val="DC2626"/>
            </a:solidFill>
            <a:prstDash val="solid"/>
          </a:ln>
        </p:spPr>
      </p:sp>
      <p:sp>
        <p:nvSpPr>
          <p:cNvPr id="25" name="Text 23"/>
          <p:cNvSpPr/>
          <p:nvPr/>
        </p:nvSpPr>
        <p:spPr>
          <a:xfrm>
            <a:off x="438912" y="3118104"/>
            <a:ext cx="237744" cy="237744"/>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6" name="Text 24"/>
          <p:cNvSpPr/>
          <p:nvPr/>
        </p:nvSpPr>
        <p:spPr>
          <a:xfrm>
            <a:off x="749808" y="3118104"/>
            <a:ext cx="2011680" cy="237744"/>
          </a:xfrm>
          <a:prstGeom prst="rect">
            <a:avLst/>
          </a:prstGeom>
          <a:noFill/>
          <a:ln/>
        </p:spPr>
        <p:txBody>
          <a:bodyPr wrap="square" lIns="0" tIns="0" rIns="0" bIns="0" rtlCol="0" anchor="ctr"/>
          <a:lstStyle/>
          <a:p>
            <a:pPr marL="0" indent="0">
              <a:buNone/>
            </a:pPr>
            <a:r>
              <a:rPr lang="en-US" sz="1000" b="1" dirty="0">
                <a:solidFill>
                  <a:srgbClr val="1E293B"/>
                </a:solidFill>
                <a:latin typeface="Calibri" pitchFamily="34" charset="0"/>
                <a:ea typeface="Calibri" pitchFamily="34" charset="-122"/>
                <a:cs typeface="Calibri" pitchFamily="34" charset="-120"/>
              </a:rPr>
              <a:t>Zero Automation</a:t>
            </a:r>
            <a:endParaRPr lang="en-US" sz="1000" dirty="0"/>
          </a:p>
        </p:txBody>
      </p:sp>
      <p:sp>
        <p:nvSpPr>
          <p:cNvPr id="27" name="Text 25"/>
          <p:cNvSpPr/>
          <p:nvPr/>
        </p:nvSpPr>
        <p:spPr>
          <a:xfrm>
            <a:off x="2743200" y="3118104"/>
            <a:ext cx="2834640" cy="237744"/>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Every decision requires human intervention</a:t>
            </a:r>
            <a:endParaRPr lang="en-US" sz="900" dirty="0"/>
          </a:p>
        </p:txBody>
      </p:sp>
      <p:sp>
        <p:nvSpPr>
          <p:cNvPr id="28" name="Shape 26"/>
          <p:cNvSpPr/>
          <p:nvPr/>
        </p:nvSpPr>
        <p:spPr>
          <a:xfrm>
            <a:off x="6035040" y="1097280"/>
            <a:ext cx="5806440" cy="2468880"/>
          </a:xfrm>
          <a:prstGeom prst="rect">
            <a:avLst/>
          </a:prstGeom>
          <a:solidFill>
            <a:srgbClr val="FEF2F2"/>
          </a:solidFill>
          <a:ln w="6350">
            <a:solidFill>
              <a:srgbClr val="E2E8F0"/>
            </a:solidFill>
            <a:prstDash val="solid"/>
          </a:ln>
          <a:effectLst>
            <a:outerShdw blurRad="101600" dist="38100" dir="8100000" algn="bl" rotWithShape="0">
              <a:srgbClr val="000000">
                <a:alpha val="10000"/>
              </a:srgbClr>
            </a:outerShdw>
          </a:effectLst>
        </p:spPr>
      </p:sp>
      <p:sp>
        <p:nvSpPr>
          <p:cNvPr id="29" name="Text 27"/>
          <p:cNvSpPr/>
          <p:nvPr/>
        </p:nvSpPr>
        <p:spPr>
          <a:xfrm>
            <a:off x="6217920" y="1170432"/>
            <a:ext cx="5394960" cy="274320"/>
          </a:xfrm>
          <a:prstGeom prst="rect">
            <a:avLst/>
          </a:prstGeom>
          <a:noFill/>
          <a:ln/>
        </p:spPr>
        <p:txBody>
          <a:bodyPr wrap="square" rtlCol="0" anchor="ctr"/>
          <a:lstStyle/>
          <a:p>
            <a:pPr marL="0" indent="0">
              <a:buNone/>
            </a:pPr>
            <a:r>
              <a:rPr lang="en-US" sz="1100" b="1" kern="0" spc="100" dirty="0">
                <a:solidFill>
                  <a:srgbClr val="DC2626"/>
                </a:solidFill>
                <a:latin typeface="Trebuchet MS" pitchFamily="34" charset="0"/>
                <a:ea typeface="Trebuchet MS" pitchFamily="34" charset="-122"/>
                <a:cs typeface="Trebuchet MS" pitchFamily="34" charset="-120"/>
              </a:rPr>
              <a:t>KEY PAIN POINTS &amp; BUSINESS IMPACT</a:t>
            </a:r>
            <a:endParaRPr lang="en-US" sz="1100" dirty="0"/>
          </a:p>
        </p:txBody>
      </p:sp>
      <p:sp>
        <p:nvSpPr>
          <p:cNvPr id="30" name="Shape 28"/>
          <p:cNvSpPr/>
          <p:nvPr/>
        </p:nvSpPr>
        <p:spPr>
          <a:xfrm>
            <a:off x="6144768" y="1572768"/>
            <a:ext cx="73152" cy="164592"/>
          </a:xfrm>
          <a:prstGeom prst="rect">
            <a:avLst/>
          </a:prstGeom>
          <a:solidFill>
            <a:srgbClr val="DC2626"/>
          </a:solidFill>
          <a:ln w="12700">
            <a:solidFill>
              <a:srgbClr val="DC2626"/>
            </a:solidFill>
            <a:prstDash val="solid"/>
          </a:ln>
        </p:spPr>
      </p:sp>
      <p:sp>
        <p:nvSpPr>
          <p:cNvPr id="31" name="Text 29"/>
          <p:cNvSpPr/>
          <p:nvPr/>
        </p:nvSpPr>
        <p:spPr>
          <a:xfrm>
            <a:off x="6291072" y="1508760"/>
            <a:ext cx="1371600" cy="274320"/>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Stock-outs: </a:t>
            </a:r>
            <a:endParaRPr lang="en-US" sz="950" dirty="0"/>
          </a:p>
        </p:txBody>
      </p:sp>
      <p:sp>
        <p:nvSpPr>
          <p:cNvPr id="32" name="Text 30"/>
          <p:cNvSpPr/>
          <p:nvPr/>
        </p:nvSpPr>
        <p:spPr>
          <a:xfrm>
            <a:off x="7589520" y="1508760"/>
            <a:ext cx="4023360" cy="27432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Lost revenue, customer dissatisfaction, brand damage</a:t>
            </a:r>
            <a:endParaRPr lang="en-US" sz="900" dirty="0"/>
          </a:p>
        </p:txBody>
      </p:sp>
      <p:sp>
        <p:nvSpPr>
          <p:cNvPr id="33" name="Shape 31"/>
          <p:cNvSpPr/>
          <p:nvPr/>
        </p:nvSpPr>
        <p:spPr>
          <a:xfrm>
            <a:off x="6144768" y="1920240"/>
            <a:ext cx="73152" cy="164592"/>
          </a:xfrm>
          <a:prstGeom prst="rect">
            <a:avLst/>
          </a:prstGeom>
          <a:solidFill>
            <a:srgbClr val="DC2626"/>
          </a:solidFill>
          <a:ln w="12700">
            <a:solidFill>
              <a:srgbClr val="DC2626"/>
            </a:solidFill>
            <a:prstDash val="solid"/>
          </a:ln>
        </p:spPr>
      </p:sp>
      <p:sp>
        <p:nvSpPr>
          <p:cNvPr id="34" name="Text 32"/>
          <p:cNvSpPr/>
          <p:nvPr/>
        </p:nvSpPr>
        <p:spPr>
          <a:xfrm>
            <a:off x="6291072" y="1856232"/>
            <a:ext cx="1371600" cy="274320"/>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Excess Inventory: </a:t>
            </a:r>
            <a:endParaRPr lang="en-US" sz="950" dirty="0"/>
          </a:p>
        </p:txBody>
      </p:sp>
      <p:sp>
        <p:nvSpPr>
          <p:cNvPr id="35" name="Text 33"/>
          <p:cNvSpPr/>
          <p:nvPr/>
        </p:nvSpPr>
        <p:spPr>
          <a:xfrm>
            <a:off x="7589520" y="1856232"/>
            <a:ext cx="4023360" cy="27432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High wastage costs, working capital locked up</a:t>
            </a:r>
            <a:endParaRPr lang="en-US" sz="900" dirty="0"/>
          </a:p>
        </p:txBody>
      </p:sp>
      <p:sp>
        <p:nvSpPr>
          <p:cNvPr id="36" name="Shape 34"/>
          <p:cNvSpPr/>
          <p:nvPr/>
        </p:nvSpPr>
        <p:spPr>
          <a:xfrm>
            <a:off x="6144768" y="2267712"/>
            <a:ext cx="73152" cy="164592"/>
          </a:xfrm>
          <a:prstGeom prst="rect">
            <a:avLst/>
          </a:prstGeom>
          <a:solidFill>
            <a:srgbClr val="DC2626"/>
          </a:solidFill>
          <a:ln w="12700">
            <a:solidFill>
              <a:srgbClr val="DC2626"/>
            </a:solidFill>
            <a:prstDash val="solid"/>
          </a:ln>
        </p:spPr>
      </p:sp>
      <p:sp>
        <p:nvSpPr>
          <p:cNvPr id="37" name="Text 35"/>
          <p:cNvSpPr/>
          <p:nvPr/>
        </p:nvSpPr>
        <p:spPr>
          <a:xfrm>
            <a:off x="6291072" y="2203704"/>
            <a:ext cx="1371600" cy="274320"/>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No Shortage Visibility: </a:t>
            </a:r>
            <a:endParaRPr lang="en-US" sz="950" dirty="0"/>
          </a:p>
        </p:txBody>
      </p:sp>
      <p:sp>
        <p:nvSpPr>
          <p:cNvPr id="38" name="Text 36"/>
          <p:cNvSpPr/>
          <p:nvPr/>
        </p:nvSpPr>
        <p:spPr>
          <a:xfrm>
            <a:off x="7589520" y="2203704"/>
            <a:ext cx="4023360" cy="27432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Procurement team fires blindly without lead indicators</a:t>
            </a:r>
            <a:endParaRPr lang="en-US" sz="900" dirty="0"/>
          </a:p>
        </p:txBody>
      </p:sp>
      <p:sp>
        <p:nvSpPr>
          <p:cNvPr id="39" name="Shape 37"/>
          <p:cNvSpPr/>
          <p:nvPr/>
        </p:nvSpPr>
        <p:spPr>
          <a:xfrm>
            <a:off x="6144768" y="2615184"/>
            <a:ext cx="73152" cy="164592"/>
          </a:xfrm>
          <a:prstGeom prst="rect">
            <a:avLst/>
          </a:prstGeom>
          <a:solidFill>
            <a:srgbClr val="DC2626"/>
          </a:solidFill>
          <a:ln w="12700">
            <a:solidFill>
              <a:srgbClr val="DC2626"/>
            </a:solidFill>
            <a:prstDash val="solid"/>
          </a:ln>
        </p:spPr>
      </p:sp>
      <p:sp>
        <p:nvSpPr>
          <p:cNvPr id="40" name="Text 38"/>
          <p:cNvSpPr/>
          <p:nvPr/>
        </p:nvSpPr>
        <p:spPr>
          <a:xfrm>
            <a:off x="6291072" y="2551176"/>
            <a:ext cx="1371600" cy="274320"/>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Forecast Errors: </a:t>
            </a:r>
            <a:endParaRPr lang="en-US" sz="950" dirty="0"/>
          </a:p>
        </p:txBody>
      </p:sp>
      <p:sp>
        <p:nvSpPr>
          <p:cNvPr id="41" name="Text 39"/>
          <p:cNvSpPr/>
          <p:nvPr/>
        </p:nvSpPr>
        <p:spPr>
          <a:xfrm>
            <a:off x="7589520" y="2551176"/>
            <a:ext cx="4023360" cy="27432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Planner bias causes ±30-40% forecast deviation</a:t>
            </a:r>
            <a:endParaRPr lang="en-US" sz="900" dirty="0"/>
          </a:p>
        </p:txBody>
      </p:sp>
      <p:sp>
        <p:nvSpPr>
          <p:cNvPr id="42" name="Shape 40"/>
          <p:cNvSpPr/>
          <p:nvPr/>
        </p:nvSpPr>
        <p:spPr>
          <a:xfrm>
            <a:off x="6144768" y="2962656"/>
            <a:ext cx="73152" cy="164592"/>
          </a:xfrm>
          <a:prstGeom prst="rect">
            <a:avLst/>
          </a:prstGeom>
          <a:solidFill>
            <a:srgbClr val="DC2626"/>
          </a:solidFill>
          <a:ln w="12700">
            <a:solidFill>
              <a:srgbClr val="DC2626"/>
            </a:solidFill>
            <a:prstDash val="solid"/>
          </a:ln>
        </p:spPr>
      </p:sp>
      <p:sp>
        <p:nvSpPr>
          <p:cNvPr id="43" name="Text 41"/>
          <p:cNvSpPr/>
          <p:nvPr/>
        </p:nvSpPr>
        <p:spPr>
          <a:xfrm>
            <a:off x="6291072" y="2898648"/>
            <a:ext cx="1371600" cy="274320"/>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High Manual Effort: </a:t>
            </a:r>
            <a:endParaRPr lang="en-US" sz="950" dirty="0"/>
          </a:p>
        </p:txBody>
      </p:sp>
      <p:sp>
        <p:nvSpPr>
          <p:cNvPr id="44" name="Text 42"/>
          <p:cNvSpPr/>
          <p:nvPr/>
        </p:nvSpPr>
        <p:spPr>
          <a:xfrm>
            <a:off x="7589520" y="2898648"/>
            <a:ext cx="4023360" cy="27432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Planning team spends 70% time on data gathering</a:t>
            </a:r>
            <a:endParaRPr lang="en-US" sz="900" dirty="0"/>
          </a:p>
        </p:txBody>
      </p:sp>
      <p:sp>
        <p:nvSpPr>
          <p:cNvPr id="45" name="Shape 43"/>
          <p:cNvSpPr/>
          <p:nvPr/>
        </p:nvSpPr>
        <p:spPr>
          <a:xfrm>
            <a:off x="6144768" y="3310128"/>
            <a:ext cx="73152" cy="164592"/>
          </a:xfrm>
          <a:prstGeom prst="rect">
            <a:avLst/>
          </a:prstGeom>
          <a:solidFill>
            <a:srgbClr val="DC2626"/>
          </a:solidFill>
          <a:ln w="12700">
            <a:solidFill>
              <a:srgbClr val="DC2626"/>
            </a:solidFill>
            <a:prstDash val="solid"/>
          </a:ln>
        </p:spPr>
      </p:sp>
      <p:sp>
        <p:nvSpPr>
          <p:cNvPr id="46" name="Text 44"/>
          <p:cNvSpPr/>
          <p:nvPr/>
        </p:nvSpPr>
        <p:spPr>
          <a:xfrm>
            <a:off x="6291072" y="3246120"/>
            <a:ext cx="1371600" cy="274320"/>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No Exception Alerts: </a:t>
            </a:r>
            <a:endParaRPr lang="en-US" sz="950" dirty="0"/>
          </a:p>
        </p:txBody>
      </p:sp>
      <p:sp>
        <p:nvSpPr>
          <p:cNvPr id="47" name="Text 45"/>
          <p:cNvSpPr/>
          <p:nvPr/>
        </p:nvSpPr>
        <p:spPr>
          <a:xfrm>
            <a:off x="7589520" y="3246120"/>
            <a:ext cx="4023360" cy="274320"/>
          </a:xfrm>
          <a:prstGeom prst="rect">
            <a:avLst/>
          </a:prstGeom>
          <a:noFill/>
          <a:ln/>
        </p:spPr>
        <p:txBody>
          <a:bodyPr wrap="square" lIns="0" tIns="0" rIns="0" bIns="0" rtlCol="0" anchor="ctr"/>
          <a:lstStyle/>
          <a:p>
            <a:pPr marL="0" indent="0">
              <a:buNone/>
            </a:pPr>
            <a:r>
              <a:rPr lang="en-US" sz="900" dirty="0">
                <a:solidFill>
                  <a:srgbClr val="475569"/>
                </a:solidFill>
                <a:latin typeface="Calibri" pitchFamily="34" charset="0"/>
                <a:ea typeface="Calibri" pitchFamily="34" charset="-122"/>
                <a:cs typeface="Calibri" pitchFamily="34" charset="-120"/>
              </a:rPr>
              <a:t>Problems noticed only when it's already too late</a:t>
            </a:r>
            <a:endParaRPr lang="en-US" sz="900" dirty="0"/>
          </a:p>
        </p:txBody>
      </p:sp>
      <p:sp>
        <p:nvSpPr>
          <p:cNvPr id="48" name="Shape 46"/>
          <p:cNvSpPr/>
          <p:nvPr/>
        </p:nvSpPr>
        <p:spPr>
          <a:xfrm>
            <a:off x="320040" y="3703320"/>
            <a:ext cx="11521440" cy="685800"/>
          </a:xfrm>
          <a:prstGeom prst="rect">
            <a:avLst/>
          </a:prstGeom>
          <a:solidFill>
            <a:srgbClr val="FFFBEB"/>
          </a:solidFill>
          <a:ln w="19050">
            <a:solidFill>
              <a:srgbClr val="D97706"/>
            </a:solidFill>
            <a:prstDash val="solid"/>
          </a:ln>
        </p:spPr>
      </p:sp>
      <p:sp>
        <p:nvSpPr>
          <p:cNvPr id="49" name="Text 47"/>
          <p:cNvSpPr/>
          <p:nvPr/>
        </p:nvSpPr>
        <p:spPr>
          <a:xfrm>
            <a:off x="502920" y="3749040"/>
            <a:ext cx="2377440" cy="594360"/>
          </a:xfrm>
          <a:prstGeom prst="rect">
            <a:avLst/>
          </a:prstGeom>
          <a:noFill/>
          <a:ln/>
        </p:spPr>
        <p:txBody>
          <a:bodyPr wrap="square" lIns="0" tIns="0" rIns="0" bIns="0" rtlCol="0" anchor="ctr"/>
          <a:lstStyle/>
          <a:p>
            <a:pPr marL="0" indent="0">
              <a:buNone/>
            </a:pPr>
            <a:r>
              <a:rPr lang="en-US" sz="1050" b="1" dirty="0">
                <a:solidFill>
                  <a:srgbClr val="D97706"/>
                </a:solidFill>
                <a:latin typeface="Calibri" pitchFamily="34" charset="0"/>
                <a:ea typeface="Calibri" pitchFamily="34" charset="-122"/>
                <a:cs typeface="Calibri" pitchFamily="34" charset="-120"/>
              </a:rPr>
              <a:t>⚠  CRITICAL PREREQUISITE: </a:t>
            </a:r>
            <a:endParaRPr lang="en-US" sz="1050" dirty="0"/>
          </a:p>
        </p:txBody>
      </p:sp>
      <p:sp>
        <p:nvSpPr>
          <p:cNvPr id="50" name="Text 48"/>
          <p:cNvSpPr/>
          <p:nvPr/>
        </p:nvSpPr>
        <p:spPr>
          <a:xfrm>
            <a:off x="2834640" y="3749040"/>
            <a:ext cx="8869680" cy="594360"/>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Before this engine can deliver accurate results, significant corrective actions are needed on master data — Product Master, Recipe Master, UOM standardization, and historical sales cleansing. The current state of data in Metabase and SupplyNote requires 4–6 weeks of dedicated data preparation. Skipping this step will result in garbage-in, garbage-out.</a:t>
            </a:r>
            <a:endParaRPr lang="en-US" sz="950" dirty="0"/>
          </a:p>
        </p:txBody>
      </p:sp>
      <p:sp>
        <p:nvSpPr>
          <p:cNvPr id="51" name="Shape 49"/>
          <p:cNvSpPr/>
          <p:nvPr/>
        </p:nvSpPr>
        <p:spPr>
          <a:xfrm>
            <a:off x="320040" y="4526280"/>
            <a:ext cx="5669280" cy="1280160"/>
          </a:xfrm>
          <a:prstGeom prst="rect">
            <a:avLst/>
          </a:prstGeom>
          <a:solidFill>
            <a:srgbClr val="E0F2FE"/>
          </a:solidFill>
          <a:ln w="6350">
            <a:solidFill>
              <a:srgbClr val="E2E8F0"/>
            </a:solidFill>
            <a:prstDash val="solid"/>
          </a:ln>
        </p:spPr>
      </p:sp>
      <p:sp>
        <p:nvSpPr>
          <p:cNvPr id="52" name="Shape 50"/>
          <p:cNvSpPr/>
          <p:nvPr/>
        </p:nvSpPr>
        <p:spPr>
          <a:xfrm>
            <a:off x="320040" y="4526280"/>
            <a:ext cx="73152" cy="1280160"/>
          </a:xfrm>
          <a:prstGeom prst="rect">
            <a:avLst/>
          </a:prstGeom>
          <a:solidFill>
            <a:srgbClr val="1A56C4"/>
          </a:solidFill>
          <a:ln w="12700">
            <a:solidFill>
              <a:srgbClr val="1A56C4"/>
            </a:solidFill>
            <a:prstDash val="solid"/>
          </a:ln>
        </p:spPr>
      </p:sp>
      <p:sp>
        <p:nvSpPr>
          <p:cNvPr id="53" name="Text 51"/>
          <p:cNvSpPr/>
          <p:nvPr/>
        </p:nvSpPr>
        <p:spPr>
          <a:xfrm>
            <a:off x="530352" y="4590288"/>
            <a:ext cx="5303520" cy="274320"/>
          </a:xfrm>
          <a:prstGeom prst="rect">
            <a:avLst/>
          </a:prstGeom>
          <a:noFill/>
          <a:ln/>
        </p:spPr>
        <p:txBody>
          <a:bodyPr wrap="square" rtlCol="0" anchor="ctr"/>
          <a:lstStyle/>
          <a:p>
            <a:pPr marL="0" indent="0">
              <a:buNone/>
            </a:pPr>
            <a:r>
              <a:rPr lang="en-US" sz="1000" b="1" dirty="0">
                <a:solidFill>
                  <a:srgbClr val="0D1B3E"/>
                </a:solidFill>
                <a:latin typeface="Trebuchet MS" pitchFamily="34" charset="0"/>
                <a:ea typeface="Trebuchet MS" pitchFamily="34" charset="-122"/>
                <a:cs typeface="Trebuchet MS" pitchFamily="34" charset="-120"/>
              </a:rPr>
              <a:t>DATA AVAILABILITY TODAY</a:t>
            </a:r>
            <a:endParaRPr lang="en-US" sz="1000" dirty="0"/>
          </a:p>
        </p:txBody>
      </p:sp>
      <p:sp>
        <p:nvSpPr>
          <p:cNvPr id="54" name="Text 52"/>
          <p:cNvSpPr/>
          <p:nvPr/>
        </p:nvSpPr>
        <p:spPr>
          <a:xfrm>
            <a:off x="530352" y="4864608"/>
            <a:ext cx="5303520" cy="82296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~60–70% of required data exists across Metabase &amp; SupplyNote but is fragmented, inconsistently named, and not standardized for automated use.</a:t>
            </a:r>
            <a:endParaRPr lang="en-US" sz="950" dirty="0"/>
          </a:p>
        </p:txBody>
      </p:sp>
      <p:sp>
        <p:nvSpPr>
          <p:cNvPr id="55" name="Shape 53"/>
          <p:cNvSpPr/>
          <p:nvPr/>
        </p:nvSpPr>
        <p:spPr>
          <a:xfrm>
            <a:off x="6263640" y="4526280"/>
            <a:ext cx="5669280" cy="1280160"/>
          </a:xfrm>
          <a:prstGeom prst="rect">
            <a:avLst/>
          </a:prstGeom>
          <a:solidFill>
            <a:srgbClr val="FEF9C3"/>
          </a:solidFill>
          <a:ln w="6350">
            <a:solidFill>
              <a:srgbClr val="E2E8F0"/>
            </a:solidFill>
            <a:prstDash val="solid"/>
          </a:ln>
        </p:spPr>
      </p:sp>
      <p:sp>
        <p:nvSpPr>
          <p:cNvPr id="56" name="Shape 54"/>
          <p:cNvSpPr/>
          <p:nvPr/>
        </p:nvSpPr>
        <p:spPr>
          <a:xfrm>
            <a:off x="6263640" y="4526280"/>
            <a:ext cx="73152" cy="1280160"/>
          </a:xfrm>
          <a:prstGeom prst="rect">
            <a:avLst/>
          </a:prstGeom>
          <a:solidFill>
            <a:srgbClr val="D97706"/>
          </a:solidFill>
          <a:ln w="12700">
            <a:solidFill>
              <a:srgbClr val="D97706"/>
            </a:solidFill>
            <a:prstDash val="solid"/>
          </a:ln>
        </p:spPr>
      </p:sp>
      <p:sp>
        <p:nvSpPr>
          <p:cNvPr id="57" name="Text 55"/>
          <p:cNvSpPr/>
          <p:nvPr/>
        </p:nvSpPr>
        <p:spPr>
          <a:xfrm>
            <a:off x="6473952" y="4590288"/>
            <a:ext cx="5303520" cy="274320"/>
          </a:xfrm>
          <a:prstGeom prst="rect">
            <a:avLst/>
          </a:prstGeom>
          <a:noFill/>
          <a:ln/>
        </p:spPr>
        <p:txBody>
          <a:bodyPr wrap="square" rtlCol="0" anchor="ctr"/>
          <a:lstStyle/>
          <a:p>
            <a:pPr marL="0" indent="0">
              <a:buNone/>
            </a:pPr>
            <a:r>
              <a:rPr lang="en-US" sz="1000" b="1" dirty="0">
                <a:solidFill>
                  <a:srgbClr val="0D1B3E"/>
                </a:solidFill>
                <a:latin typeface="Trebuchet MS" pitchFamily="34" charset="0"/>
                <a:ea typeface="Trebuchet MS" pitchFamily="34" charset="-122"/>
                <a:cs typeface="Trebuchet MS" pitchFamily="34" charset="-120"/>
              </a:rPr>
              <a:t>CORRECTIVE ACTION REQUIRED</a:t>
            </a:r>
            <a:endParaRPr lang="en-US" sz="1000" dirty="0"/>
          </a:p>
        </p:txBody>
      </p:sp>
      <p:sp>
        <p:nvSpPr>
          <p:cNvPr id="58" name="Text 56"/>
          <p:cNvSpPr/>
          <p:nvPr/>
        </p:nvSpPr>
        <p:spPr>
          <a:xfrm>
            <a:off x="6473952" y="4864608"/>
            <a:ext cx="5303520" cy="822960"/>
          </a:xfrm>
          <a:prstGeom prst="rect">
            <a:avLst/>
          </a:prstGeom>
          <a:noFill/>
          <a:ln/>
        </p:spPr>
        <p:txBody>
          <a:bodyPr wrap="square" rtlCol="0" anchor="ctr"/>
          <a:lstStyle/>
          <a:p>
            <a:pPr marL="0" indent="0">
              <a:buNone/>
            </a:pPr>
            <a:r>
              <a:rPr lang="en-US" sz="950" dirty="0">
                <a:solidFill>
                  <a:srgbClr val="1E293B"/>
                </a:solidFill>
                <a:latin typeface="Calibri" pitchFamily="34" charset="0"/>
                <a:ea typeface="Calibri" pitchFamily="34" charset="-122"/>
                <a:cs typeface="Calibri" pitchFamily="34" charset="-120"/>
              </a:rPr>
              <a:t>SKU deduplication, recipe validation per outlet, UOM unification (gm/kg/ml/L), location-store mapping, and at least 6 months of clean sales history.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685800"/>
          </a:xfrm>
          <a:prstGeom prst="rect">
            <a:avLst/>
          </a:prstGeom>
          <a:solidFill>
            <a:srgbClr val="1A56C4"/>
          </a:solidFill>
          <a:ln w="12700">
            <a:solidFill>
              <a:srgbClr val="1A56C4"/>
            </a:solidFill>
            <a:prstDash val="solid"/>
          </a:ln>
        </p:spPr>
      </p:sp>
      <p:sp>
        <p:nvSpPr>
          <p:cNvPr id="3" name="Text 1"/>
          <p:cNvSpPr/>
          <p:nvPr/>
        </p:nvSpPr>
        <p:spPr>
          <a:xfrm>
            <a:off x="475488" y="201168"/>
            <a:ext cx="11338560" cy="411480"/>
          </a:xfrm>
          <a:prstGeom prst="rect">
            <a:avLst/>
          </a:prstGeom>
          <a:noFill/>
          <a:ln/>
        </p:spPr>
        <p:txBody>
          <a:bodyPr wrap="square" lIns="0" tIns="0" rIns="0" bIns="0" rtlCol="0" anchor="ctr"/>
          <a:lstStyle/>
          <a:p>
            <a:pPr marL="0" indent="0">
              <a:buNone/>
            </a:pPr>
            <a:r>
              <a:rPr lang="en-US" sz="2200" b="1" dirty="0">
                <a:solidFill>
                  <a:srgbClr val="0D1B3E"/>
                </a:solidFill>
                <a:latin typeface="Trebuchet MS" pitchFamily="34" charset="0"/>
                <a:ea typeface="Trebuchet MS" pitchFamily="34" charset="-122"/>
                <a:cs typeface="Trebuchet MS" pitchFamily="34" charset="-120"/>
              </a:rPr>
              <a:t>End-to-End Demand Planning Flow</a:t>
            </a:r>
            <a:endParaRPr lang="en-US" sz="2200" dirty="0"/>
          </a:p>
        </p:txBody>
      </p:sp>
      <p:sp>
        <p:nvSpPr>
          <p:cNvPr id="4" name="Text 2"/>
          <p:cNvSpPr/>
          <p:nvPr/>
        </p:nvSpPr>
        <p:spPr>
          <a:xfrm>
            <a:off x="475488" y="566928"/>
            <a:ext cx="113385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From raw sales data to procurement recommendation — 6 integrated modules</a:t>
            </a:r>
            <a:endParaRPr lang="en-US" sz="1200" dirty="0"/>
          </a:p>
        </p:txBody>
      </p:sp>
      <p:sp>
        <p:nvSpPr>
          <p:cNvPr id="5" name="Shape 3"/>
          <p:cNvSpPr/>
          <p:nvPr/>
        </p:nvSpPr>
        <p:spPr>
          <a:xfrm>
            <a:off x="320040" y="960120"/>
            <a:ext cx="11521440" cy="0"/>
          </a:xfrm>
          <a:prstGeom prst="line">
            <a:avLst/>
          </a:prstGeom>
          <a:noFill/>
          <a:ln w="9525">
            <a:solidFill>
              <a:srgbClr val="E2E8F0"/>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4108797708"/>
              </p:ext>
            </p:extLst>
          </p:nvPr>
        </p:nvGraphicFramePr>
        <p:xfrm>
          <a:off x="320040" y="1051560"/>
          <a:ext cx="11082528" cy="3011424"/>
        </p:xfrm>
        <a:graphic>
          <a:graphicData uri="http://schemas.openxmlformats.org/drawingml/2006/table">
            <a:tbl>
              <a:tblPr/>
              <a:tblGrid>
                <a:gridCol w="292608">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468880">
                  <a:extLst>
                    <a:ext uri="{9D8B030D-6E8A-4147-A177-3AD203B41FA5}">
                      <a16:colId xmlns:a16="http://schemas.microsoft.com/office/drawing/2014/main" val="20004"/>
                    </a:ext>
                  </a:extLst>
                </a:gridCol>
                <a:gridCol w="20116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tblGrid>
              <a:tr h="329184">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Module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Input Source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Key Data Required</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Processing Logic</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Output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Status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329184">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D1B3E"/>
                          </a:solidFill>
                          <a:latin typeface="Calibri" pitchFamily="34" charset="0"/>
                          <a:ea typeface="Calibri" pitchFamily="34" charset="-122"/>
                          <a:cs typeface="Calibri" pitchFamily="34" charset="-120"/>
                        </a:rPr>
                        <a:t>Sales Aggregation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Metabase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Daily Sales by SKU(</a:t>
                      </a:r>
                      <a:r>
                        <a:rPr lang="en-IN" sz="900" dirty="0"/>
                        <a:t>Stock Keeping Unit</a:t>
                      </a:r>
                      <a:r>
                        <a:rPr lang="en-US" sz="900" dirty="0">
                          <a:solidFill>
                            <a:srgbClr val="1E293B"/>
                          </a:solidFill>
                          <a:latin typeface="Calibri" pitchFamily="34" charset="0"/>
                          <a:ea typeface="Calibri" pitchFamily="34" charset="-122"/>
                          <a:cs typeface="Calibri" pitchFamily="34" charset="-120"/>
                        </a:rPr>
                        <a:t>), Brand, Location, Order Count</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Aggregate &amp; clean sales by SKU + Location + Date</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Clean Demand History Repository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EA580C"/>
                          </a:solidFill>
                          <a:latin typeface="Calibri" pitchFamily="34" charset="0"/>
                          <a:ea typeface="Calibri" pitchFamily="34" charset="-122"/>
                          <a:cs typeface="Calibri" pitchFamily="34" charset="-120"/>
                        </a:rPr>
                        <a:t>NEEDS CLEANSE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1"/>
                  </a:ext>
                </a:extLst>
              </a:tr>
              <a:tr h="329184">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00" b="1" dirty="0">
                          <a:solidFill>
                            <a:srgbClr val="0D1B3E"/>
                          </a:solidFill>
                          <a:latin typeface="Calibri" pitchFamily="34" charset="0"/>
                          <a:ea typeface="Calibri" pitchFamily="34" charset="-122"/>
                          <a:cs typeface="Calibri" pitchFamily="34" charset="-120"/>
                        </a:rPr>
                        <a:t>Forecasting Engine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Demand History</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6-month sales, day-of-week, seasonality, festival calendar</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Statistical model: trend + seasonality + growth factors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SKU × Location Forecast (7/14/30 days)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b="1" dirty="0">
                          <a:solidFill>
                            <a:srgbClr val="1A56C4"/>
                          </a:solidFill>
                          <a:latin typeface="Calibri" pitchFamily="34" charset="0"/>
                          <a:ea typeface="Calibri" pitchFamily="34" charset="-122"/>
                          <a:cs typeface="Calibri" pitchFamily="34" charset="-120"/>
                        </a:rPr>
                        <a:t>NEEDS BUILD</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extLst>
                  <a:ext uri="{0D108BD9-81ED-4DB2-BD59-A6C34878D82A}">
                    <a16:rowId xmlns:a16="http://schemas.microsoft.com/office/drawing/2014/main" val="10002"/>
                  </a:ext>
                </a:extLst>
              </a:tr>
              <a:tr h="329184">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D1B3E"/>
                          </a:solidFill>
                          <a:latin typeface="Calibri" pitchFamily="34" charset="0"/>
                          <a:ea typeface="Calibri" pitchFamily="34" charset="-122"/>
                          <a:cs typeface="Calibri" pitchFamily="34" charset="-120"/>
                        </a:rPr>
                        <a:t>Internal Supply Planning</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SupplyNote + Forecast</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Kitchen/outlet stock, safety stock policy, store mapping</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Forecast Demand + Safety Stock − Available Inventory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Replenishment Requirement per Kitchen</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EA580C"/>
                          </a:solidFill>
                          <a:latin typeface="Calibri" pitchFamily="34" charset="0"/>
                          <a:ea typeface="Calibri" pitchFamily="34" charset="-122"/>
                          <a:cs typeface="Calibri" pitchFamily="34" charset="-120"/>
                        </a:rPr>
                        <a:t>NEEDS CLEANSE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3"/>
                  </a:ext>
                </a:extLst>
              </a:tr>
              <a:tr h="329184">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00" b="1" dirty="0">
                          <a:solidFill>
                            <a:srgbClr val="0D1B3E"/>
                          </a:solidFill>
                          <a:latin typeface="Calibri" pitchFamily="34" charset="0"/>
                          <a:ea typeface="Calibri" pitchFamily="34" charset="-122"/>
                          <a:cs typeface="Calibri" pitchFamily="34" charset="-120"/>
                        </a:rPr>
                        <a:t>Recipe Explosion Engine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SupplyNote Recipes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Recipe Master, yield factors, ingredient-to-SKU mapping</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Multiply forecast units × recipe quantities per ingredient</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Total Ingredient Demand (RM + PM)</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b="1" dirty="0">
                          <a:solidFill>
                            <a:srgbClr val="DC2626"/>
                          </a:solidFill>
                          <a:latin typeface="Calibri" pitchFamily="34" charset="0"/>
                          <a:ea typeface="Calibri" pitchFamily="34" charset="-122"/>
                          <a:cs typeface="Calibri" pitchFamily="34" charset="-120"/>
                        </a:rPr>
                        <a:t>CRITICAL GAP</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4"/>
                  </a:ext>
                </a:extLst>
              </a:tr>
              <a:tr h="329184">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D1B3E"/>
                          </a:solidFill>
                          <a:latin typeface="Calibri" pitchFamily="34" charset="0"/>
                          <a:ea typeface="Calibri" pitchFamily="34" charset="-122"/>
                          <a:cs typeface="Calibri" pitchFamily="34" charset="-120"/>
                        </a:rPr>
                        <a:t>Warehouse Planning</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SupplyNote Warehouse</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Warehouse stock, stock adjustments, ingredient demand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Ingredient Demand − Warehouse Stock = Net Requirement</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Shortage Report by Ingredient</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EA580C"/>
                          </a:solidFill>
                          <a:latin typeface="Calibri" pitchFamily="34" charset="0"/>
                          <a:ea typeface="Calibri" pitchFamily="34" charset="-122"/>
                          <a:cs typeface="Calibri" pitchFamily="34" charset="-120"/>
                        </a:rPr>
                        <a:t>NEEDS CLEANSE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5"/>
                  </a:ext>
                </a:extLst>
              </a:tr>
              <a:tr h="329184">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1000" b="1" dirty="0">
                          <a:solidFill>
                            <a:srgbClr val="0D1B3E"/>
                          </a:solidFill>
                          <a:latin typeface="Calibri" pitchFamily="34" charset="0"/>
                          <a:ea typeface="Calibri" pitchFamily="34" charset="-122"/>
                          <a:cs typeface="Calibri" pitchFamily="34" charset="-120"/>
                        </a:rPr>
                        <a:t>Procurement Engine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Vendor Master + Planning</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Net Requirement, Open POs, Lead Time, MOQ (Minimum Order Quantity)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Net Req + Safety Stock − Open PO Qty = Procurement Qty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Purchase Recommendations by Supplier</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b="1" dirty="0">
                          <a:solidFill>
                            <a:srgbClr val="1A56C4"/>
                          </a:solidFill>
                          <a:latin typeface="Calibri" pitchFamily="34" charset="0"/>
                          <a:ea typeface="Calibri" pitchFamily="34" charset="-122"/>
                          <a:cs typeface="Calibri" pitchFamily="34" charset="-120"/>
                        </a:rPr>
                        <a:t>NEEDS BUILD</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extLst>
                  <a:ext uri="{0D108BD9-81ED-4DB2-BD59-A6C34878D82A}">
                    <a16:rowId xmlns:a16="http://schemas.microsoft.com/office/drawing/2014/main" val="10006"/>
                  </a:ext>
                </a:extLst>
              </a:tr>
              <a:tr h="329184">
                <a:tc>
                  <a:txBody>
                    <a:bodyPr/>
                    <a:lstStyle/>
                    <a:p>
                      <a:pPr marL="0" indent="0" algn="ctr">
                        <a:buNone/>
                      </a:pPr>
                      <a:r>
                        <a:rPr lang="en-US" sz="1100" b="1" dirty="0">
                          <a:solidFill>
                            <a:srgbClr val="00000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D1B3E"/>
                          </a:solidFill>
                          <a:latin typeface="Calibri" pitchFamily="34" charset="0"/>
                          <a:ea typeface="Calibri" pitchFamily="34" charset="-122"/>
                          <a:cs typeface="Calibri" pitchFamily="34" charset="-120"/>
                        </a:rPr>
                        <a:t>Alert &amp; Exception Engine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50" dirty="0">
                          <a:solidFill>
                            <a:srgbClr val="475569"/>
                          </a:solidFill>
                          <a:latin typeface="Calibri" pitchFamily="34" charset="0"/>
                          <a:ea typeface="Calibri" pitchFamily="34" charset="-122"/>
                          <a:cs typeface="Calibri" pitchFamily="34" charset="-120"/>
                        </a:rPr>
                        <a:t>All Modules</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Forecast spikes, stock thresholds, delayed POs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1E293B"/>
                          </a:solidFill>
                          <a:latin typeface="Calibri" pitchFamily="34" charset="0"/>
                          <a:ea typeface="Calibri" pitchFamily="34" charset="-122"/>
                          <a:cs typeface="Calibri" pitchFamily="34" charset="-120"/>
                        </a:rPr>
                        <a:t>Rule-based + threshold monitoring across all outputs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b="1" dirty="0">
                          <a:solidFill>
                            <a:srgbClr val="16A34A"/>
                          </a:solidFill>
                          <a:latin typeface="Calibri" pitchFamily="34" charset="0"/>
                          <a:ea typeface="Calibri" pitchFamily="34" charset="-122"/>
                          <a:cs typeface="Calibri" pitchFamily="34" charset="-120"/>
                        </a:rPr>
                        <a:t>Exception Dashboard &amp; Proactive Alerts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A56C4"/>
                          </a:solidFill>
                          <a:latin typeface="Calibri" pitchFamily="34" charset="0"/>
                          <a:ea typeface="Calibri" pitchFamily="34" charset="-122"/>
                          <a:cs typeface="Calibri" pitchFamily="34" charset="-120"/>
                        </a:rPr>
                        <a:t>NEEDS BUILD</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685800"/>
          </a:xfrm>
          <a:prstGeom prst="rect">
            <a:avLst/>
          </a:prstGeom>
          <a:solidFill>
            <a:srgbClr val="1A56C4"/>
          </a:solidFill>
          <a:ln w="12700">
            <a:solidFill>
              <a:srgbClr val="1A56C4"/>
            </a:solidFill>
            <a:prstDash val="solid"/>
          </a:ln>
        </p:spPr>
      </p:sp>
      <p:sp>
        <p:nvSpPr>
          <p:cNvPr id="3" name="Text 1"/>
          <p:cNvSpPr/>
          <p:nvPr/>
        </p:nvSpPr>
        <p:spPr>
          <a:xfrm>
            <a:off x="475488" y="201168"/>
            <a:ext cx="11338560" cy="411480"/>
          </a:xfrm>
          <a:prstGeom prst="rect">
            <a:avLst/>
          </a:prstGeom>
          <a:noFill/>
          <a:ln/>
        </p:spPr>
        <p:txBody>
          <a:bodyPr wrap="square" lIns="0" tIns="0" rIns="0" bIns="0" rtlCol="0" anchor="ctr"/>
          <a:lstStyle/>
          <a:p>
            <a:pPr marL="0" indent="0">
              <a:buNone/>
            </a:pPr>
            <a:r>
              <a:rPr lang="en-US" sz="2200" b="1" dirty="0">
                <a:solidFill>
                  <a:srgbClr val="0D1B3E"/>
                </a:solidFill>
                <a:latin typeface="Trebuchet MS" pitchFamily="34" charset="0"/>
                <a:ea typeface="Trebuchet MS" pitchFamily="34" charset="-122"/>
                <a:cs typeface="Trebuchet MS" pitchFamily="34" charset="-120"/>
              </a:rPr>
              <a:t>Data Requirements, Accuracy &amp; Current Gap Analysis</a:t>
            </a:r>
            <a:endParaRPr lang="en-US" sz="2200" dirty="0"/>
          </a:p>
        </p:txBody>
      </p:sp>
      <p:sp>
        <p:nvSpPr>
          <p:cNvPr id="4" name="Text 2"/>
          <p:cNvSpPr/>
          <p:nvPr/>
        </p:nvSpPr>
        <p:spPr>
          <a:xfrm>
            <a:off x="475488" y="566928"/>
            <a:ext cx="113385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What we need, what we have, and the risk of inaccuracy</a:t>
            </a:r>
            <a:endParaRPr lang="en-US" sz="1200" dirty="0"/>
          </a:p>
        </p:txBody>
      </p:sp>
      <p:sp>
        <p:nvSpPr>
          <p:cNvPr id="5" name="Shape 3"/>
          <p:cNvSpPr/>
          <p:nvPr/>
        </p:nvSpPr>
        <p:spPr>
          <a:xfrm>
            <a:off x="320040" y="960120"/>
            <a:ext cx="11521440" cy="0"/>
          </a:xfrm>
          <a:prstGeom prst="line">
            <a:avLst/>
          </a:prstGeom>
          <a:noFill/>
          <a:ln w="9525">
            <a:solidFill>
              <a:srgbClr val="E2E8F0"/>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051560"/>
          <a:ext cx="11612880" cy="4008120"/>
        </p:xfrm>
        <a:graphic>
          <a:graphicData uri="http://schemas.openxmlformats.org/drawingml/2006/table">
            <a:tbl>
              <a:tblPr/>
              <a:tblGrid>
                <a:gridCol w="141732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2926080">
                  <a:extLst>
                    <a:ext uri="{9D8B030D-6E8A-4147-A177-3AD203B41FA5}">
                      <a16:colId xmlns:a16="http://schemas.microsoft.com/office/drawing/2014/main" val="20005"/>
                    </a:ext>
                  </a:extLst>
                </a:gridCol>
                <a:gridCol w="2788920">
                  <a:extLst>
                    <a:ext uri="{9D8B030D-6E8A-4147-A177-3AD203B41FA5}">
                      <a16:colId xmlns:a16="http://schemas.microsoft.com/office/drawing/2014/main" val="20006"/>
                    </a:ext>
                  </a:extLst>
                </a:gridCol>
              </a:tblGrid>
              <a:tr h="29260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Data Element</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Source System</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Min. History / Freshness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Required Accuracy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Current Status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Impact of Inaccuracy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2626"/>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Action Needed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Daily SKU Sales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Metabase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6 Months (min)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98%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A580C"/>
                          </a:solidFill>
                          <a:latin typeface="Calibri" pitchFamily="34" charset="0"/>
                          <a:ea typeface="Calibri" pitchFamily="34" charset="-122"/>
                          <a:cs typeface="Calibri" pitchFamily="34" charset="-120"/>
                        </a:rPr>
                        <a:t>PARTIAL</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Poor forecast → wrong procurement → stock-out or overstock</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Validate completeness, fix missing dates, dedup SKUs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Product / SKU Master</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SupplyNote / MDM</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Current – 100% complete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99%</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00" b="1" dirty="0">
                          <a:solidFill>
                            <a:srgbClr val="DC2626"/>
                          </a:solidFill>
                          <a:latin typeface="Calibri" pitchFamily="34" charset="0"/>
                          <a:ea typeface="Calibri" pitchFamily="34" charset="-122"/>
                          <a:cs typeface="Calibri" pitchFamily="34" charset="-120"/>
                        </a:rPr>
                        <a:t>NEEDS WORK</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Broken SKU mapping = entire forecast engine fails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Deduplicate, standardize naming, lock taxonomy</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Brand &amp; Location Mapping</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MDM</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Current – real-time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A580C"/>
                          </a:solidFill>
                          <a:latin typeface="Calibri" pitchFamily="34" charset="0"/>
                          <a:ea typeface="Calibri" pitchFamily="34" charset="-122"/>
                          <a:cs typeface="Calibri" pitchFamily="34" charset="-120"/>
                        </a:rPr>
                        <a:t>PARTIAL</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Misrouted replenishment demand to wrong kitchen</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Define and lock location-store-brand hierarchy</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Recipe Master (RM/PM)</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SupplyNote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Current – per live menu</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99%</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00" b="1" dirty="0">
                          <a:solidFill>
                            <a:srgbClr val="DC2626"/>
                          </a:solidFill>
                          <a:latin typeface="Calibri" pitchFamily="34" charset="0"/>
                          <a:ea typeface="Calibri" pitchFamily="34" charset="-122"/>
                          <a:cs typeface="Calibri" pitchFamily="34" charset="-120"/>
                        </a:rPr>
                        <a:t>CRITICAL GAP</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Even 5% recipe error = lakhs of inventory variance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Full recipe audit by culinary team per outlet</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Yield Factors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Culinary Team</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Current – validated</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DC2626"/>
                          </a:solidFill>
                          <a:latin typeface="Calibri" pitchFamily="34" charset="0"/>
                          <a:ea typeface="Calibri" pitchFamily="34" charset="-122"/>
                          <a:cs typeface="Calibri" pitchFamily="34" charset="-120"/>
                        </a:rPr>
                        <a:t>MISSING</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Wrong ingredient quantity = over/under procurement</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Document and validate all yield conversions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Warehouse Stock</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SupplyNote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Real-time (daily sync)</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98%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00" b="1" dirty="0">
                          <a:solidFill>
                            <a:srgbClr val="16A34A"/>
                          </a:solidFill>
                          <a:latin typeface="Calibri" pitchFamily="34" charset="0"/>
                          <a:ea typeface="Calibri" pitchFamily="34" charset="-122"/>
                          <a:cs typeface="Calibri" pitchFamily="34" charset="-120"/>
                        </a:rPr>
                        <a:t>AVAILABLE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Incorrect net requirement → procurement recommendation error</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Validate GRN and stock adjustment entries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Kitchen / Outlet Stock</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SupplyNote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Real-time (daily sync)</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98%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EA580C"/>
                          </a:solidFill>
                          <a:latin typeface="Calibri" pitchFamily="34" charset="0"/>
                          <a:ea typeface="Calibri" pitchFamily="34" charset="-122"/>
                          <a:cs typeface="Calibri" pitchFamily="34" charset="-120"/>
                        </a:rPr>
                        <a:t>PARTIAL</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Cannot determine true replenishment gap accurately</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Ensure all outlets do daily stock-takes in system</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Supplier Lead Time</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Procurement Team</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Current – per vendor</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00" b="1" dirty="0">
                          <a:solidFill>
                            <a:srgbClr val="DC2626"/>
                          </a:solidFill>
                          <a:latin typeface="Calibri" pitchFamily="34" charset="0"/>
                          <a:ea typeface="Calibri" pitchFamily="34" charset="-122"/>
                          <a:cs typeface="Calibri" pitchFamily="34" charset="-120"/>
                        </a:rPr>
                        <a:t>MANUAL/MISSING</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Late POs, stock-out during lead time window</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Build and maintain vendor lead time master</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8"/>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Open Purchase Orders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SupplyNote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Real-time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98%</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16A34A"/>
                          </a:solidFill>
                          <a:latin typeface="Calibri" pitchFamily="34" charset="0"/>
                          <a:ea typeface="Calibri" pitchFamily="34" charset="-122"/>
                          <a:cs typeface="Calibri" pitchFamily="34" charset="-120"/>
                        </a:rPr>
                        <a:t>AVAILABLE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Duplicate procurement if open POs not deducted</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Ensure all POs are logged and updated timely</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MOQ per Supplier</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Procurement Team</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Current – per contract</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00" b="1" dirty="0">
                          <a:solidFill>
                            <a:srgbClr val="DC2626"/>
                          </a:solidFill>
                          <a:latin typeface="Calibri" pitchFamily="34" charset="0"/>
                          <a:ea typeface="Calibri" pitchFamily="34" charset="-122"/>
                          <a:cs typeface="Calibri" pitchFamily="34" charset="-120"/>
                        </a:rPr>
                        <a:t>MANUAL/MISSING</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Procurement qty below MOQ rejected by vendor</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Capture MOQ in vendor master in SupplyNote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10"/>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Safety Stock Policy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Planning Team</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Current – per SKU</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00" b="1" dirty="0">
                          <a:solidFill>
                            <a:srgbClr val="DC2626"/>
                          </a:solidFill>
                          <a:latin typeface="Calibri" pitchFamily="34" charset="0"/>
                          <a:ea typeface="Calibri" pitchFamily="34" charset="-122"/>
                          <a:cs typeface="Calibri" pitchFamily="34" charset="-120"/>
                        </a:rPr>
                        <a:t>NOT DEFINED</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Without safety stock, system cannot buffer demand variance</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Define safety stock days per category/location</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92608">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UOM Standardization</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All Systems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Ongoing governance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1A56C4"/>
                          </a:solidFill>
                          <a:latin typeface="Calibri" pitchFamily="34" charset="0"/>
                          <a:ea typeface="Calibri" pitchFamily="34" charset="-122"/>
                          <a:cs typeface="Calibri" pitchFamily="34" charset="-120"/>
                        </a:rPr>
                        <a:t>100%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00" b="1" dirty="0">
                          <a:solidFill>
                            <a:srgbClr val="DC2626"/>
                          </a:solidFill>
                          <a:latin typeface="Calibri" pitchFamily="34" charset="0"/>
                          <a:ea typeface="Calibri" pitchFamily="34" charset="-122"/>
                          <a:cs typeface="Calibri" pitchFamily="34" charset="-120"/>
                        </a:rPr>
                        <a:t>CRITICAL GAP</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00" dirty="0">
                          <a:solidFill>
                            <a:srgbClr val="DC2626"/>
                          </a:solidFill>
                          <a:latin typeface="Calibri" pitchFamily="34" charset="0"/>
                          <a:ea typeface="Calibri" pitchFamily="34" charset="-122"/>
                          <a:cs typeface="Calibri" pitchFamily="34" charset="-120"/>
                        </a:rPr>
                        <a:t>gm vs Kg mismatch = 1000x quantity error in procurement</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00" dirty="0">
                          <a:solidFill>
                            <a:srgbClr val="1E293B"/>
                          </a:solidFill>
                          <a:latin typeface="Calibri" pitchFamily="34" charset="0"/>
                          <a:ea typeface="Calibri" pitchFamily="34" charset="-122"/>
                          <a:cs typeface="Calibri" pitchFamily="34" charset="-120"/>
                        </a:rPr>
                        <a:t>Enforce single UOM standard across all systems</a:t>
                      </a:r>
                      <a:endParaRPr lang="en-US" sz="8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685800"/>
          </a:xfrm>
          <a:prstGeom prst="rect">
            <a:avLst/>
          </a:prstGeom>
          <a:solidFill>
            <a:srgbClr val="1A56C4"/>
          </a:solidFill>
          <a:ln w="12700">
            <a:solidFill>
              <a:srgbClr val="1A56C4"/>
            </a:solidFill>
            <a:prstDash val="solid"/>
          </a:ln>
        </p:spPr>
      </p:sp>
      <p:sp>
        <p:nvSpPr>
          <p:cNvPr id="3" name="Text 1"/>
          <p:cNvSpPr/>
          <p:nvPr/>
        </p:nvSpPr>
        <p:spPr>
          <a:xfrm>
            <a:off x="475488" y="201168"/>
            <a:ext cx="11338560" cy="411480"/>
          </a:xfrm>
          <a:prstGeom prst="rect">
            <a:avLst/>
          </a:prstGeom>
          <a:noFill/>
          <a:ln/>
        </p:spPr>
        <p:txBody>
          <a:bodyPr wrap="square" lIns="0" tIns="0" rIns="0" bIns="0" rtlCol="0" anchor="ctr"/>
          <a:lstStyle/>
          <a:p>
            <a:pPr marL="0" indent="0">
              <a:buNone/>
            </a:pPr>
            <a:r>
              <a:rPr lang="en-US" sz="2200" b="1" dirty="0">
                <a:solidFill>
                  <a:srgbClr val="0D1B3E"/>
                </a:solidFill>
                <a:latin typeface="Trebuchet MS" pitchFamily="34" charset="0"/>
                <a:ea typeface="Trebuchet MS" pitchFamily="34" charset="-122"/>
                <a:cs typeface="Trebuchet MS" pitchFamily="34" charset="-120"/>
              </a:rPr>
              <a:t>Why Data Accuracy is Non-Negotiable</a:t>
            </a:r>
            <a:endParaRPr lang="en-US" sz="2200" dirty="0"/>
          </a:p>
        </p:txBody>
      </p:sp>
      <p:sp>
        <p:nvSpPr>
          <p:cNvPr id="4" name="Text 2"/>
          <p:cNvSpPr/>
          <p:nvPr/>
        </p:nvSpPr>
        <p:spPr>
          <a:xfrm>
            <a:off x="475488" y="566928"/>
            <a:ext cx="113385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Small inaccuracies compound across modules — resulting in catastrophic procurement errors</a:t>
            </a:r>
            <a:endParaRPr lang="en-US" sz="1200" dirty="0"/>
          </a:p>
        </p:txBody>
      </p:sp>
      <p:sp>
        <p:nvSpPr>
          <p:cNvPr id="5" name="Shape 3"/>
          <p:cNvSpPr/>
          <p:nvPr/>
        </p:nvSpPr>
        <p:spPr>
          <a:xfrm>
            <a:off x="320040" y="960120"/>
            <a:ext cx="11521440" cy="0"/>
          </a:xfrm>
          <a:prstGeom prst="line">
            <a:avLst/>
          </a:prstGeom>
          <a:noFill/>
          <a:ln w="9525">
            <a:solidFill>
              <a:srgbClr val="E2E8F0"/>
            </a:solidFill>
            <a:prstDash val="solid"/>
          </a:ln>
        </p:spPr>
      </p:sp>
      <p:sp>
        <p:nvSpPr>
          <p:cNvPr id="6" name="Shape 4"/>
          <p:cNvSpPr/>
          <p:nvPr/>
        </p:nvSpPr>
        <p:spPr>
          <a:xfrm>
            <a:off x="320040" y="1097280"/>
            <a:ext cx="3840480" cy="301752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7" name="Text 5"/>
          <p:cNvSpPr/>
          <p:nvPr/>
        </p:nvSpPr>
        <p:spPr>
          <a:xfrm>
            <a:off x="457200" y="1170432"/>
            <a:ext cx="3566160" cy="292608"/>
          </a:xfrm>
          <a:prstGeom prst="rect">
            <a:avLst/>
          </a:prstGeom>
          <a:noFill/>
          <a:ln/>
        </p:spPr>
        <p:txBody>
          <a:bodyPr wrap="square" rtlCol="0" anchor="ctr"/>
          <a:lstStyle/>
          <a:p>
            <a:pPr marL="0" indent="0">
              <a:buNone/>
            </a:pPr>
            <a:r>
              <a:rPr lang="en-US" sz="1000" b="1" dirty="0">
                <a:solidFill>
                  <a:srgbClr val="0D1B3E"/>
                </a:solidFill>
                <a:latin typeface="Trebuchet MS" pitchFamily="34" charset="0"/>
                <a:ea typeface="Trebuchet MS" pitchFamily="34" charset="-122"/>
                <a:cs typeface="Trebuchet MS" pitchFamily="34" charset="-120"/>
              </a:rPr>
              <a:t>DATA QUALITY → FORECAST ACCURACY</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508760"/>
          <a:ext cx="3566160" cy="1920240"/>
        </p:xfrm>
        <a:graphic>
          <a:graphicData uri="http://schemas.openxmlformats.org/drawingml/2006/table">
            <a:tbl>
              <a:tblPr/>
              <a:tblGrid>
                <a:gridCol w="11887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8404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Data Quality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Forecast Accuracy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Procurement Risk</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384048">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&lt; 80%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dirty="0">
                          <a:solidFill>
                            <a:srgbClr val="DC2626"/>
                          </a:solidFill>
                          <a:latin typeface="Calibri" pitchFamily="34" charset="0"/>
                          <a:ea typeface="Calibri" pitchFamily="34" charset="-122"/>
                          <a:cs typeface="Calibri" pitchFamily="34" charset="-120"/>
                        </a:rPr>
                        <a:t>50% – 60%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CRITICAL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1"/>
                  </a:ext>
                </a:extLst>
              </a:tr>
              <a:tr h="384048">
                <a:tc>
                  <a:txBody>
                    <a:bodyPr/>
                    <a:lstStyle/>
                    <a:p>
                      <a:pPr marL="0" indent="0" algn="ctr">
                        <a:buNone/>
                      </a:pPr>
                      <a:r>
                        <a:rPr lang="en-US" sz="900" b="1" dirty="0">
                          <a:solidFill>
                            <a:srgbClr val="EA580C"/>
                          </a:solidFill>
                          <a:latin typeface="Calibri" pitchFamily="34" charset="0"/>
                          <a:ea typeface="Calibri" pitchFamily="34" charset="-122"/>
                          <a:cs typeface="Calibri" pitchFamily="34" charset="-120"/>
                        </a:rPr>
                        <a:t>85%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marL="0" indent="0" algn="ctr">
                        <a:buNone/>
                      </a:pPr>
                      <a:r>
                        <a:rPr lang="en-US" sz="900" dirty="0">
                          <a:solidFill>
                            <a:srgbClr val="EA580C"/>
                          </a:solidFill>
                          <a:latin typeface="Calibri" pitchFamily="34" charset="0"/>
                          <a:ea typeface="Calibri" pitchFamily="34" charset="-122"/>
                          <a:cs typeface="Calibri" pitchFamily="34" charset="-120"/>
                        </a:rPr>
                        <a:t>65% – 75%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marL="0" indent="0" algn="ctr">
                        <a:buNone/>
                      </a:pPr>
                      <a:r>
                        <a:rPr lang="en-US" sz="900" b="1" dirty="0">
                          <a:solidFill>
                            <a:srgbClr val="EA580C"/>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extLst>
                  <a:ext uri="{0D108BD9-81ED-4DB2-BD59-A6C34878D82A}">
                    <a16:rowId xmlns:a16="http://schemas.microsoft.com/office/drawing/2014/main" val="10002"/>
                  </a:ext>
                </a:extLst>
              </a:tr>
              <a:tr h="384048">
                <a:tc>
                  <a:txBody>
                    <a:bodyPr/>
                    <a:lstStyle/>
                    <a:p>
                      <a:pPr marL="0" indent="0" algn="ctr">
                        <a:buNone/>
                      </a:pPr>
                      <a:r>
                        <a:rPr lang="en-US" sz="900" b="1" dirty="0">
                          <a:solidFill>
                            <a:srgbClr val="D97706"/>
                          </a:solidFill>
                          <a:latin typeface="Calibri" pitchFamily="34" charset="0"/>
                          <a:ea typeface="Calibri" pitchFamily="34" charset="-122"/>
                          <a:cs typeface="Calibri" pitchFamily="34" charset="-120"/>
                        </a:rPr>
                        <a:t>90%</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lgn="ctr">
                        <a:buNone/>
                      </a:pPr>
                      <a:r>
                        <a:rPr lang="en-US" sz="900" dirty="0">
                          <a:solidFill>
                            <a:srgbClr val="D97706"/>
                          </a:solidFill>
                          <a:latin typeface="Calibri" pitchFamily="34" charset="0"/>
                          <a:ea typeface="Calibri" pitchFamily="34" charset="-122"/>
                          <a:cs typeface="Calibri" pitchFamily="34" charset="-120"/>
                        </a:rPr>
                        <a:t>75% – 85%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tc>
                  <a:txBody>
                    <a:bodyPr/>
                    <a:lstStyle/>
                    <a:p>
                      <a:pPr marL="0" indent="0" algn="ctr">
                        <a:buNone/>
                      </a:pPr>
                      <a:r>
                        <a:rPr lang="en-US" sz="900" b="1" dirty="0">
                          <a:solidFill>
                            <a:srgbClr val="D97706"/>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3"/>
                  </a:ext>
                </a:extLst>
              </a:tr>
              <a:tr h="384048">
                <a:tc>
                  <a:txBody>
                    <a:bodyPr/>
                    <a:lstStyle/>
                    <a:p>
                      <a:pPr marL="0" indent="0" algn="ctr">
                        <a:buNone/>
                      </a:pPr>
                      <a:r>
                        <a:rPr lang="en-US" sz="900" b="1" dirty="0">
                          <a:solidFill>
                            <a:srgbClr val="16A34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900" dirty="0">
                          <a:solidFill>
                            <a:srgbClr val="16A34A"/>
                          </a:solidFill>
                          <a:latin typeface="Calibri" pitchFamily="34" charset="0"/>
                          <a:ea typeface="Calibri" pitchFamily="34" charset="-122"/>
                          <a:cs typeface="Calibri" pitchFamily="34" charset="-120"/>
                        </a:rPr>
                        <a:t>85% – 92%</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900" b="1" dirty="0">
                          <a:solidFill>
                            <a:srgbClr val="16A34A"/>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extLst>
                  <a:ext uri="{0D108BD9-81ED-4DB2-BD59-A6C34878D82A}">
                    <a16:rowId xmlns:a16="http://schemas.microsoft.com/office/drawing/2014/main" val="10004"/>
                  </a:ext>
                </a:extLst>
              </a:tr>
            </a:tbl>
          </a:graphicData>
        </a:graphic>
      </p:graphicFrame>
      <p:sp>
        <p:nvSpPr>
          <p:cNvPr id="9" name="Shape 6"/>
          <p:cNvSpPr/>
          <p:nvPr/>
        </p:nvSpPr>
        <p:spPr>
          <a:xfrm>
            <a:off x="411480" y="3858768"/>
            <a:ext cx="1691640" cy="914400"/>
          </a:xfrm>
          <a:prstGeom prst="rect">
            <a:avLst/>
          </a:prstGeom>
          <a:solidFill>
            <a:srgbClr val="FFF7ED"/>
          </a:solidFill>
          <a:ln w="12700">
            <a:solidFill>
              <a:srgbClr val="EA580C"/>
            </a:solidFill>
            <a:prstDash val="solid"/>
          </a:ln>
        </p:spPr>
      </p:sp>
      <p:sp>
        <p:nvSpPr>
          <p:cNvPr id="10" name="Text 7"/>
          <p:cNvSpPr/>
          <p:nvPr/>
        </p:nvSpPr>
        <p:spPr>
          <a:xfrm>
            <a:off x="411480" y="3913632"/>
            <a:ext cx="1691640" cy="320040"/>
          </a:xfrm>
          <a:prstGeom prst="rect">
            <a:avLst/>
          </a:prstGeom>
          <a:noFill/>
          <a:ln/>
        </p:spPr>
        <p:txBody>
          <a:bodyPr wrap="square" rtlCol="0" anchor="ctr"/>
          <a:lstStyle/>
          <a:p>
            <a:pPr marL="0" indent="0" algn="ctr">
              <a:buNone/>
            </a:pPr>
            <a:r>
              <a:rPr lang="en-US" sz="900" b="1" dirty="0">
                <a:solidFill>
                  <a:srgbClr val="EA580C"/>
                </a:solidFill>
                <a:latin typeface="Calibri" pitchFamily="34" charset="0"/>
                <a:ea typeface="Calibri" pitchFamily="34" charset="-122"/>
                <a:cs typeface="Calibri" pitchFamily="34" charset="-120"/>
              </a:rPr>
              <a:t>PHASE 1</a:t>
            </a:r>
            <a:endParaRPr lang="en-US" sz="900" dirty="0"/>
          </a:p>
          <a:p>
            <a:pPr marL="0" indent="0" algn="ctr">
              <a:buNone/>
            </a:pPr>
            <a:r>
              <a:rPr lang="en-US" sz="900" b="1" dirty="0">
                <a:solidFill>
                  <a:srgbClr val="EA580C"/>
                </a:solidFill>
                <a:latin typeface="Calibri" pitchFamily="34" charset="0"/>
                <a:ea typeface="Calibri" pitchFamily="34" charset="-122"/>
                <a:cs typeface="Calibri" pitchFamily="34" charset="-120"/>
              </a:rPr>
              <a:t>Target</a:t>
            </a:r>
            <a:endParaRPr lang="en-US" sz="900" dirty="0"/>
          </a:p>
        </p:txBody>
      </p:sp>
      <p:sp>
        <p:nvSpPr>
          <p:cNvPr id="11" name="Text 8"/>
          <p:cNvSpPr/>
          <p:nvPr/>
        </p:nvSpPr>
        <p:spPr>
          <a:xfrm>
            <a:off x="411480" y="4206240"/>
            <a:ext cx="1691640" cy="502920"/>
          </a:xfrm>
          <a:prstGeom prst="rect">
            <a:avLst/>
          </a:prstGeom>
          <a:noFill/>
          <a:ln/>
        </p:spPr>
        <p:txBody>
          <a:bodyPr wrap="square" rtlCol="0" anchor="ctr"/>
          <a:lstStyle/>
          <a:p>
            <a:pPr marL="0" indent="0" algn="ctr">
              <a:buNone/>
            </a:pPr>
            <a:r>
              <a:rPr lang="en-US" sz="1400" b="1" dirty="0">
                <a:solidFill>
                  <a:srgbClr val="EA580C"/>
                </a:solidFill>
                <a:latin typeface="Trebuchet MS" pitchFamily="34" charset="0"/>
                <a:ea typeface="Trebuchet MS" pitchFamily="34" charset="-122"/>
                <a:cs typeface="Trebuchet MS" pitchFamily="34" charset="-120"/>
              </a:rPr>
              <a:t>75%–80%</a:t>
            </a:r>
            <a:endParaRPr lang="en-US" sz="1400" dirty="0"/>
          </a:p>
          <a:p>
            <a:pPr marL="0" indent="0" algn="ctr">
              <a:buNone/>
            </a:pPr>
            <a:r>
              <a:rPr lang="en-US" sz="1400" b="1" dirty="0">
                <a:solidFill>
                  <a:srgbClr val="EA580C"/>
                </a:solidFill>
                <a:latin typeface="Trebuchet MS" pitchFamily="34" charset="0"/>
                <a:ea typeface="Trebuchet MS" pitchFamily="34" charset="-122"/>
                <a:cs typeface="Trebuchet MS" pitchFamily="34" charset="-120"/>
              </a:rPr>
              <a:t>Forecast Accuracy</a:t>
            </a:r>
            <a:endParaRPr lang="en-US" sz="1400" dirty="0"/>
          </a:p>
        </p:txBody>
      </p:sp>
      <p:sp>
        <p:nvSpPr>
          <p:cNvPr id="12" name="Shape 9"/>
          <p:cNvSpPr/>
          <p:nvPr/>
        </p:nvSpPr>
        <p:spPr>
          <a:xfrm>
            <a:off x="2194560" y="3858768"/>
            <a:ext cx="1691640" cy="914400"/>
          </a:xfrm>
          <a:prstGeom prst="rect">
            <a:avLst/>
          </a:prstGeom>
          <a:solidFill>
            <a:srgbClr val="DCFCE7"/>
          </a:solidFill>
          <a:ln w="12700">
            <a:solidFill>
              <a:srgbClr val="16A34A"/>
            </a:solidFill>
            <a:prstDash val="solid"/>
          </a:ln>
        </p:spPr>
      </p:sp>
      <p:sp>
        <p:nvSpPr>
          <p:cNvPr id="13" name="Text 10"/>
          <p:cNvSpPr/>
          <p:nvPr/>
        </p:nvSpPr>
        <p:spPr>
          <a:xfrm>
            <a:off x="2194560" y="3913632"/>
            <a:ext cx="1691640" cy="320040"/>
          </a:xfrm>
          <a:prstGeom prst="rect">
            <a:avLst/>
          </a:prstGeom>
          <a:noFill/>
          <a:ln/>
        </p:spPr>
        <p:txBody>
          <a:bodyPr wrap="square" rtlCol="0" anchor="ctr"/>
          <a:lstStyle/>
          <a:p>
            <a:pPr marL="0" indent="0" algn="ctr">
              <a:buNone/>
            </a:pPr>
            <a:r>
              <a:rPr lang="en-US" sz="900" b="1" dirty="0">
                <a:solidFill>
                  <a:srgbClr val="16A34A"/>
                </a:solidFill>
                <a:latin typeface="Calibri" pitchFamily="34" charset="0"/>
                <a:ea typeface="Calibri" pitchFamily="34" charset="-122"/>
                <a:cs typeface="Calibri" pitchFamily="34" charset="-120"/>
              </a:rPr>
              <a:t>PHASE 2</a:t>
            </a:r>
            <a:endParaRPr lang="en-US" sz="900" dirty="0"/>
          </a:p>
          <a:p>
            <a:pPr marL="0" indent="0" algn="ctr">
              <a:buNone/>
            </a:pPr>
            <a:r>
              <a:rPr lang="en-US" sz="900" b="1" dirty="0">
                <a:solidFill>
                  <a:srgbClr val="16A34A"/>
                </a:solidFill>
                <a:latin typeface="Calibri" pitchFamily="34" charset="0"/>
                <a:ea typeface="Calibri" pitchFamily="34" charset="-122"/>
                <a:cs typeface="Calibri" pitchFamily="34" charset="-120"/>
              </a:rPr>
              <a:t>Target</a:t>
            </a:r>
            <a:endParaRPr lang="en-US" sz="900" dirty="0"/>
          </a:p>
        </p:txBody>
      </p:sp>
      <p:sp>
        <p:nvSpPr>
          <p:cNvPr id="14" name="Text 11"/>
          <p:cNvSpPr/>
          <p:nvPr/>
        </p:nvSpPr>
        <p:spPr>
          <a:xfrm>
            <a:off x="2194560" y="4206240"/>
            <a:ext cx="1691640" cy="502920"/>
          </a:xfrm>
          <a:prstGeom prst="rect">
            <a:avLst/>
          </a:prstGeom>
          <a:noFill/>
          <a:ln/>
        </p:spPr>
        <p:txBody>
          <a:bodyPr wrap="square" rtlCol="0" anchor="ctr"/>
          <a:lstStyle/>
          <a:p>
            <a:pPr marL="0" indent="0" algn="ctr">
              <a:buNone/>
            </a:pPr>
            <a:r>
              <a:rPr lang="en-US" sz="1400" b="1" dirty="0">
                <a:solidFill>
                  <a:srgbClr val="16A34A"/>
                </a:solidFill>
                <a:latin typeface="Trebuchet MS" pitchFamily="34" charset="0"/>
                <a:ea typeface="Trebuchet MS" pitchFamily="34" charset="-122"/>
                <a:cs typeface="Trebuchet MS" pitchFamily="34" charset="-120"/>
              </a:rPr>
              <a:t>85%–90%</a:t>
            </a:r>
            <a:endParaRPr lang="en-US" sz="1400" dirty="0"/>
          </a:p>
          <a:p>
            <a:pPr marL="0" indent="0" algn="ctr">
              <a:buNone/>
            </a:pPr>
            <a:r>
              <a:rPr lang="en-US" sz="1400" b="1" dirty="0">
                <a:solidFill>
                  <a:srgbClr val="16A34A"/>
                </a:solidFill>
                <a:latin typeface="Trebuchet MS" pitchFamily="34" charset="0"/>
                <a:ea typeface="Trebuchet MS" pitchFamily="34" charset="-122"/>
                <a:cs typeface="Trebuchet MS" pitchFamily="34" charset="-120"/>
              </a:rPr>
              <a:t>With AI Learning</a:t>
            </a:r>
            <a:endParaRPr lang="en-US" sz="1400" dirty="0"/>
          </a:p>
        </p:txBody>
      </p:sp>
      <p:sp>
        <p:nvSpPr>
          <p:cNvPr id="15" name="Shape 12"/>
          <p:cNvSpPr/>
          <p:nvPr/>
        </p:nvSpPr>
        <p:spPr>
          <a:xfrm>
            <a:off x="4343400" y="1097280"/>
            <a:ext cx="7498080" cy="4846320"/>
          </a:xfrm>
          <a:prstGeom prst="rect">
            <a:avLst/>
          </a:prstGeom>
          <a:solidFill>
            <a:srgbClr val="FEF2F2"/>
          </a:solidFill>
          <a:ln w="6350">
            <a:solidFill>
              <a:srgbClr val="E2E8F0"/>
            </a:solidFill>
            <a:prstDash val="solid"/>
          </a:ln>
        </p:spPr>
      </p:sp>
      <p:sp>
        <p:nvSpPr>
          <p:cNvPr id="16" name="Shape 13"/>
          <p:cNvSpPr/>
          <p:nvPr/>
        </p:nvSpPr>
        <p:spPr>
          <a:xfrm>
            <a:off x="4343400" y="1097280"/>
            <a:ext cx="73152" cy="4846320"/>
          </a:xfrm>
          <a:prstGeom prst="rect">
            <a:avLst/>
          </a:prstGeom>
          <a:solidFill>
            <a:srgbClr val="DC2626"/>
          </a:solidFill>
          <a:ln w="12700">
            <a:solidFill>
              <a:srgbClr val="DC2626"/>
            </a:solidFill>
            <a:prstDash val="solid"/>
          </a:ln>
        </p:spPr>
      </p:sp>
      <p:sp>
        <p:nvSpPr>
          <p:cNvPr id="17" name="Text 14"/>
          <p:cNvSpPr/>
          <p:nvPr/>
        </p:nvSpPr>
        <p:spPr>
          <a:xfrm>
            <a:off x="4526280" y="1170432"/>
            <a:ext cx="7132320" cy="292608"/>
          </a:xfrm>
          <a:prstGeom prst="rect">
            <a:avLst/>
          </a:prstGeom>
          <a:noFill/>
          <a:ln/>
        </p:spPr>
        <p:txBody>
          <a:bodyPr wrap="square" rtlCol="0" anchor="ctr"/>
          <a:lstStyle/>
          <a:p>
            <a:pPr marL="0" indent="0">
              <a:buNone/>
            </a:pPr>
            <a:r>
              <a:rPr lang="en-US" sz="1100" b="1" dirty="0">
                <a:solidFill>
                  <a:srgbClr val="DC2626"/>
                </a:solidFill>
                <a:latin typeface="Trebuchet MS" pitchFamily="34" charset="0"/>
                <a:ea typeface="Trebuchet MS" pitchFamily="34" charset="-122"/>
                <a:cs typeface="Trebuchet MS" pitchFamily="34" charset="-120"/>
              </a:rPr>
              <a:t>HOW DATA ERRORS CASCADE INTO PROCUREMENT DISASTERS</a:t>
            </a:r>
            <a:endParaRPr lang="en-US" sz="1100" dirty="0"/>
          </a:p>
        </p:txBody>
      </p:sp>
      <p:sp>
        <p:nvSpPr>
          <p:cNvPr id="18" name="Shape 15"/>
          <p:cNvSpPr/>
          <p:nvPr/>
        </p:nvSpPr>
        <p:spPr>
          <a:xfrm>
            <a:off x="4434840" y="1554480"/>
            <a:ext cx="54864" cy="640080"/>
          </a:xfrm>
          <a:prstGeom prst="rect">
            <a:avLst/>
          </a:prstGeom>
          <a:solidFill>
            <a:srgbClr val="DC2626"/>
          </a:solidFill>
          <a:ln w="12700">
            <a:solidFill>
              <a:srgbClr val="DC2626"/>
            </a:solidFill>
            <a:prstDash val="solid"/>
          </a:ln>
        </p:spPr>
      </p:sp>
      <p:sp>
        <p:nvSpPr>
          <p:cNvPr id="19" name="Text 16"/>
          <p:cNvSpPr/>
          <p:nvPr/>
        </p:nvSpPr>
        <p:spPr>
          <a:xfrm>
            <a:off x="4617720" y="1554480"/>
            <a:ext cx="704088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Recipe Error (5%)</a:t>
            </a:r>
            <a:endParaRPr lang="en-US" sz="950" dirty="0"/>
          </a:p>
        </p:txBody>
      </p:sp>
      <p:sp>
        <p:nvSpPr>
          <p:cNvPr id="20" name="Text 17"/>
          <p:cNvSpPr/>
          <p:nvPr/>
        </p:nvSpPr>
        <p:spPr>
          <a:xfrm>
            <a:off x="4617720" y="1792224"/>
            <a:ext cx="7040880" cy="49377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If Cheese quantity in recipe is 150g but system shows 142g (5% off):</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For 10,000 pizzas: System recommends 1,420 Kg | Actual need: 1,500 Kg → 80 Kg SHORT</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At ₹400/Kg = ₹32,000 variance per order cycle. Multiplied across all SKUs = Lakhs/month</a:t>
            </a:r>
            <a:endParaRPr lang="en-US" sz="850" dirty="0"/>
          </a:p>
        </p:txBody>
      </p:sp>
      <p:sp>
        <p:nvSpPr>
          <p:cNvPr id="21" name="Shape 18"/>
          <p:cNvSpPr/>
          <p:nvPr/>
        </p:nvSpPr>
        <p:spPr>
          <a:xfrm>
            <a:off x="4434840" y="2359152"/>
            <a:ext cx="54864" cy="640080"/>
          </a:xfrm>
          <a:prstGeom prst="rect">
            <a:avLst/>
          </a:prstGeom>
          <a:solidFill>
            <a:srgbClr val="DC2626"/>
          </a:solidFill>
          <a:ln w="12700">
            <a:solidFill>
              <a:srgbClr val="DC2626"/>
            </a:solidFill>
            <a:prstDash val="solid"/>
          </a:ln>
        </p:spPr>
      </p:sp>
      <p:sp>
        <p:nvSpPr>
          <p:cNvPr id="22" name="Text 19"/>
          <p:cNvSpPr/>
          <p:nvPr/>
        </p:nvSpPr>
        <p:spPr>
          <a:xfrm>
            <a:off x="4617720" y="2359152"/>
            <a:ext cx="704088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UOM Mismatch (gm vs Kg)</a:t>
            </a:r>
            <a:endParaRPr lang="en-US" sz="950" dirty="0"/>
          </a:p>
        </p:txBody>
      </p:sp>
      <p:sp>
        <p:nvSpPr>
          <p:cNvPr id="23" name="Text 20"/>
          <p:cNvSpPr/>
          <p:nvPr/>
        </p:nvSpPr>
        <p:spPr>
          <a:xfrm>
            <a:off x="4617720" y="2596896"/>
            <a:ext cx="7040880" cy="49377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If one record says '250' (gm) and another '0.25' (Kg), system adds them:</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Computed need: 250.25 Kg | Actual need: 0.50 Kg → 500x over-procurement</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Perishable inventory = 100% wastage. Single incident can cost ₹1–5 Lakhs</a:t>
            </a:r>
            <a:endParaRPr lang="en-US" sz="850" dirty="0"/>
          </a:p>
        </p:txBody>
      </p:sp>
      <p:sp>
        <p:nvSpPr>
          <p:cNvPr id="24" name="Shape 21"/>
          <p:cNvSpPr/>
          <p:nvPr/>
        </p:nvSpPr>
        <p:spPr>
          <a:xfrm>
            <a:off x="4434840" y="3163824"/>
            <a:ext cx="54864" cy="640080"/>
          </a:xfrm>
          <a:prstGeom prst="rect">
            <a:avLst/>
          </a:prstGeom>
          <a:solidFill>
            <a:srgbClr val="DC2626"/>
          </a:solidFill>
          <a:ln w="12700">
            <a:solidFill>
              <a:srgbClr val="DC2626"/>
            </a:solidFill>
            <a:prstDash val="solid"/>
          </a:ln>
        </p:spPr>
      </p:sp>
      <p:sp>
        <p:nvSpPr>
          <p:cNvPr id="25" name="Text 22"/>
          <p:cNvSpPr/>
          <p:nvPr/>
        </p:nvSpPr>
        <p:spPr>
          <a:xfrm>
            <a:off x="4617720" y="3163824"/>
            <a:ext cx="704088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Stale Kitchen Stock Data</a:t>
            </a:r>
            <a:endParaRPr lang="en-US" sz="950" dirty="0"/>
          </a:p>
        </p:txBody>
      </p:sp>
      <p:sp>
        <p:nvSpPr>
          <p:cNvPr id="26" name="Text 23"/>
          <p:cNvSpPr/>
          <p:nvPr/>
        </p:nvSpPr>
        <p:spPr>
          <a:xfrm>
            <a:off x="4617720" y="3401568"/>
            <a:ext cx="7040880" cy="49377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If kitchen stock is not updated (outlet doesn't do daily stock-take):</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System assumes 0 stock. Recommends full replenishment.</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Kitchen already has 3 days of stock = excess order, wastage, blocked working capital</a:t>
            </a:r>
            <a:endParaRPr lang="en-US" sz="850" dirty="0"/>
          </a:p>
        </p:txBody>
      </p:sp>
      <p:sp>
        <p:nvSpPr>
          <p:cNvPr id="27" name="Shape 24"/>
          <p:cNvSpPr/>
          <p:nvPr/>
        </p:nvSpPr>
        <p:spPr>
          <a:xfrm>
            <a:off x="4434840" y="3968496"/>
            <a:ext cx="54864" cy="640080"/>
          </a:xfrm>
          <a:prstGeom prst="rect">
            <a:avLst/>
          </a:prstGeom>
          <a:solidFill>
            <a:srgbClr val="DC2626"/>
          </a:solidFill>
          <a:ln w="12700">
            <a:solidFill>
              <a:srgbClr val="DC2626"/>
            </a:solidFill>
            <a:prstDash val="solid"/>
          </a:ln>
        </p:spPr>
      </p:sp>
      <p:sp>
        <p:nvSpPr>
          <p:cNvPr id="28" name="Text 25"/>
          <p:cNvSpPr/>
          <p:nvPr/>
        </p:nvSpPr>
        <p:spPr>
          <a:xfrm>
            <a:off x="4617720" y="3968496"/>
            <a:ext cx="704088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Missing Lead Time</a:t>
            </a:r>
            <a:endParaRPr lang="en-US" sz="950" dirty="0"/>
          </a:p>
        </p:txBody>
      </p:sp>
      <p:sp>
        <p:nvSpPr>
          <p:cNvPr id="29" name="Text 26"/>
          <p:cNvSpPr/>
          <p:nvPr/>
        </p:nvSpPr>
        <p:spPr>
          <a:xfrm>
            <a:off x="4617720" y="4206240"/>
            <a:ext cx="7040880" cy="49377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If lead time for Cheese is unknown (assumed 0 days):</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Procurement order placed day before shortage</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Vendor cannot deliver in time → Stock-out → Kitchen shut down / revenue loss</a:t>
            </a:r>
            <a:endParaRPr lang="en-US" sz="850" dirty="0"/>
          </a:p>
        </p:txBody>
      </p:sp>
      <p:sp>
        <p:nvSpPr>
          <p:cNvPr id="30" name="Shape 27"/>
          <p:cNvSpPr/>
          <p:nvPr/>
        </p:nvSpPr>
        <p:spPr>
          <a:xfrm>
            <a:off x="4434840" y="4773168"/>
            <a:ext cx="54864" cy="640080"/>
          </a:xfrm>
          <a:prstGeom prst="rect">
            <a:avLst/>
          </a:prstGeom>
          <a:solidFill>
            <a:srgbClr val="DC2626"/>
          </a:solidFill>
          <a:ln w="12700">
            <a:solidFill>
              <a:srgbClr val="DC2626"/>
            </a:solidFill>
            <a:prstDash val="solid"/>
          </a:ln>
        </p:spPr>
      </p:sp>
      <p:sp>
        <p:nvSpPr>
          <p:cNvPr id="31" name="Text 28"/>
          <p:cNvSpPr/>
          <p:nvPr/>
        </p:nvSpPr>
        <p:spPr>
          <a:xfrm>
            <a:off x="4617720" y="4773168"/>
            <a:ext cx="7040880" cy="256032"/>
          </a:xfrm>
          <a:prstGeom prst="rect">
            <a:avLst/>
          </a:prstGeom>
          <a:noFill/>
          <a:ln/>
        </p:spPr>
        <p:txBody>
          <a:bodyPr wrap="square" lIns="0" tIns="0" rIns="0" bIns="0" rtlCol="0" anchor="ctr"/>
          <a:lstStyle/>
          <a:p>
            <a:pPr marL="0" indent="0">
              <a:buNone/>
            </a:pPr>
            <a:r>
              <a:rPr lang="en-US" sz="950" b="1" dirty="0">
                <a:solidFill>
                  <a:srgbClr val="DC2626"/>
                </a:solidFill>
                <a:latin typeface="Calibri" pitchFamily="34" charset="0"/>
                <a:ea typeface="Calibri" pitchFamily="34" charset="-122"/>
                <a:cs typeface="Calibri" pitchFamily="34" charset="-120"/>
              </a:rPr>
              <a:t>Duplicate SKU Names</a:t>
            </a:r>
            <a:endParaRPr lang="en-US" sz="950" dirty="0"/>
          </a:p>
        </p:txBody>
      </p:sp>
      <p:sp>
        <p:nvSpPr>
          <p:cNvPr id="32" name="Text 29"/>
          <p:cNvSpPr/>
          <p:nvPr/>
        </p:nvSpPr>
        <p:spPr>
          <a:xfrm>
            <a:off x="4617720" y="5010912"/>
            <a:ext cx="7040880" cy="493776"/>
          </a:xfrm>
          <a:prstGeom prst="rect">
            <a:avLst/>
          </a:prstGeom>
          <a:noFill/>
          <a:ln/>
        </p:spPr>
        <p:txBody>
          <a:bodyPr wrap="square" lIns="0" tIns="0" rIns="0" bIns="0" rtlCol="0" anchor="ctr"/>
          <a:lstStyle/>
          <a:p>
            <a:pPr marL="0" indent="0">
              <a:buNone/>
            </a:pPr>
            <a:r>
              <a:rPr lang="en-US" sz="850" dirty="0">
                <a:solidFill>
                  <a:srgbClr val="1E293B"/>
                </a:solidFill>
                <a:latin typeface="Calibri" pitchFamily="34" charset="0"/>
                <a:ea typeface="Calibri" pitchFamily="34" charset="-122"/>
                <a:cs typeface="Calibri" pitchFamily="34" charset="-120"/>
              </a:rPr>
              <a:t>If 'Margherita Pizza' and 'Margherita Pz' are two records:</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Sales history is split → Forecast for each = ~50% of actual demand</a:t>
            </a:r>
            <a:endParaRPr lang="en-US" sz="850" dirty="0"/>
          </a:p>
          <a:p>
            <a:pPr marL="0" indent="0">
              <a:buNone/>
            </a:pPr>
            <a:r>
              <a:rPr lang="en-US" sz="850" dirty="0">
                <a:solidFill>
                  <a:srgbClr val="1E293B"/>
                </a:solidFill>
                <a:latin typeface="Calibri" pitchFamily="34" charset="0"/>
                <a:ea typeface="Calibri" pitchFamily="34" charset="-122"/>
                <a:cs typeface="Calibri" pitchFamily="34" charset="-120"/>
              </a:rPr>
              <a:t>→ Both forecasts are wrong → Under-procurement for both variants → Stock-out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685800"/>
          </a:xfrm>
          <a:prstGeom prst="rect">
            <a:avLst/>
          </a:prstGeom>
          <a:solidFill>
            <a:srgbClr val="1A56C4"/>
          </a:solidFill>
          <a:ln w="12700">
            <a:solidFill>
              <a:srgbClr val="1A56C4"/>
            </a:solidFill>
            <a:prstDash val="solid"/>
          </a:ln>
        </p:spPr>
      </p:sp>
      <p:sp>
        <p:nvSpPr>
          <p:cNvPr id="3" name="Text 1"/>
          <p:cNvSpPr/>
          <p:nvPr/>
        </p:nvSpPr>
        <p:spPr>
          <a:xfrm>
            <a:off x="475488" y="201168"/>
            <a:ext cx="11338560" cy="411480"/>
          </a:xfrm>
          <a:prstGeom prst="rect">
            <a:avLst/>
          </a:prstGeom>
          <a:noFill/>
          <a:ln/>
        </p:spPr>
        <p:txBody>
          <a:bodyPr wrap="square" lIns="0" tIns="0" rIns="0" bIns="0" rtlCol="0" anchor="ctr"/>
          <a:lstStyle/>
          <a:p>
            <a:pPr marL="0" indent="0">
              <a:buNone/>
            </a:pPr>
            <a:r>
              <a:rPr lang="en-US" sz="2200" b="1" dirty="0">
                <a:solidFill>
                  <a:srgbClr val="0D1B3E"/>
                </a:solidFill>
                <a:latin typeface="Trebuchet MS" pitchFamily="34" charset="0"/>
                <a:ea typeface="Trebuchet MS" pitchFamily="34" charset="-122"/>
                <a:cs typeface="Trebuchet MS" pitchFamily="34" charset="-120"/>
              </a:rPr>
              <a:t>Module Logic &amp; Calculation Framework</a:t>
            </a:r>
            <a:endParaRPr lang="en-US" sz="2200" dirty="0"/>
          </a:p>
        </p:txBody>
      </p:sp>
      <p:sp>
        <p:nvSpPr>
          <p:cNvPr id="4" name="Text 2"/>
          <p:cNvSpPr/>
          <p:nvPr/>
        </p:nvSpPr>
        <p:spPr>
          <a:xfrm>
            <a:off x="475488" y="566928"/>
            <a:ext cx="113385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How each module computes its output</a:t>
            </a:r>
            <a:endParaRPr lang="en-US" sz="1200" dirty="0"/>
          </a:p>
        </p:txBody>
      </p:sp>
      <p:sp>
        <p:nvSpPr>
          <p:cNvPr id="5" name="Shape 3"/>
          <p:cNvSpPr/>
          <p:nvPr/>
        </p:nvSpPr>
        <p:spPr>
          <a:xfrm>
            <a:off x="320040" y="960120"/>
            <a:ext cx="11521440" cy="0"/>
          </a:xfrm>
          <a:prstGeom prst="line">
            <a:avLst/>
          </a:prstGeom>
          <a:noFill/>
          <a:ln w="9525">
            <a:solidFill>
              <a:srgbClr val="E2E8F0"/>
            </a:solidFill>
            <a:prstDash val="solid"/>
          </a:ln>
        </p:spPr>
      </p:sp>
      <p:sp>
        <p:nvSpPr>
          <p:cNvPr id="6" name="Shape 4"/>
          <p:cNvSpPr/>
          <p:nvPr/>
        </p:nvSpPr>
        <p:spPr>
          <a:xfrm>
            <a:off x="320040" y="1097280"/>
            <a:ext cx="5623560" cy="1664208"/>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7" name="Shape 5"/>
          <p:cNvSpPr/>
          <p:nvPr/>
        </p:nvSpPr>
        <p:spPr>
          <a:xfrm>
            <a:off x="320040" y="1097280"/>
            <a:ext cx="73152" cy="1664208"/>
          </a:xfrm>
          <a:prstGeom prst="rect">
            <a:avLst/>
          </a:prstGeom>
          <a:solidFill>
            <a:srgbClr val="1A56C4"/>
          </a:solidFill>
          <a:ln w="12700">
            <a:solidFill>
              <a:srgbClr val="1A56C4"/>
            </a:solidFill>
            <a:prstDash val="solid"/>
          </a:ln>
        </p:spPr>
      </p:sp>
      <p:sp>
        <p:nvSpPr>
          <p:cNvPr id="8" name="Shape 6"/>
          <p:cNvSpPr/>
          <p:nvPr/>
        </p:nvSpPr>
        <p:spPr>
          <a:xfrm>
            <a:off x="457200" y="1188720"/>
            <a:ext cx="411480" cy="256032"/>
          </a:xfrm>
          <a:prstGeom prst="rect">
            <a:avLst/>
          </a:prstGeom>
          <a:solidFill>
            <a:srgbClr val="E0F2FE"/>
          </a:solidFill>
          <a:ln w="12700">
            <a:solidFill>
              <a:srgbClr val="E0F2FE"/>
            </a:solidFill>
            <a:prstDash val="solid"/>
          </a:ln>
        </p:spPr>
      </p:sp>
      <p:sp>
        <p:nvSpPr>
          <p:cNvPr id="9" name="Text 7"/>
          <p:cNvSpPr/>
          <p:nvPr/>
        </p:nvSpPr>
        <p:spPr>
          <a:xfrm>
            <a:off x="457200" y="1188720"/>
            <a:ext cx="411480" cy="256032"/>
          </a:xfrm>
          <a:prstGeom prst="rect">
            <a:avLst/>
          </a:prstGeom>
          <a:noFill/>
          <a:ln/>
        </p:spPr>
        <p:txBody>
          <a:bodyPr wrap="square" lIns="0" tIns="0" rIns="0" bIns="0" rtlCol="0" anchor="ctr"/>
          <a:lstStyle/>
          <a:p>
            <a:pPr marL="0" indent="0" algn="ctr">
              <a:buNone/>
            </a:pPr>
            <a:r>
              <a:rPr lang="en-US" sz="850" b="1" dirty="0">
                <a:solidFill>
                  <a:srgbClr val="1A56C4"/>
                </a:solidFill>
                <a:latin typeface="Calibri" pitchFamily="34" charset="0"/>
                <a:ea typeface="Calibri" pitchFamily="34" charset="-122"/>
                <a:cs typeface="Calibri" pitchFamily="34" charset="-120"/>
              </a:rPr>
              <a:t>M1</a:t>
            </a:r>
            <a:endParaRPr lang="en-US" sz="850" dirty="0"/>
          </a:p>
        </p:txBody>
      </p:sp>
      <p:sp>
        <p:nvSpPr>
          <p:cNvPr id="10" name="Text 8"/>
          <p:cNvSpPr/>
          <p:nvPr/>
        </p:nvSpPr>
        <p:spPr>
          <a:xfrm>
            <a:off x="941832" y="1188720"/>
            <a:ext cx="4846320" cy="256032"/>
          </a:xfrm>
          <a:prstGeom prst="rect">
            <a:avLst/>
          </a:prstGeom>
          <a:noFill/>
          <a:ln/>
        </p:spPr>
        <p:txBody>
          <a:bodyPr wrap="square" lIns="0" tIns="0" rIns="0" bIns="0" rtlCol="0" anchor="ctr"/>
          <a:lstStyle/>
          <a:p>
            <a:pPr marL="0" indent="0">
              <a:buNone/>
            </a:pPr>
            <a:r>
              <a:rPr lang="en-US" sz="1100" b="1" dirty="0">
                <a:solidFill>
                  <a:srgbClr val="0D1B3E"/>
                </a:solidFill>
                <a:latin typeface="Trebuchet MS" pitchFamily="34" charset="0"/>
                <a:ea typeface="Trebuchet MS" pitchFamily="34" charset="-122"/>
                <a:cs typeface="Trebuchet MS" pitchFamily="34" charset="-120"/>
              </a:rPr>
              <a:t>Sales Aggregation</a:t>
            </a:r>
            <a:endParaRPr lang="en-US" sz="1100" dirty="0"/>
          </a:p>
        </p:txBody>
      </p:sp>
      <p:sp>
        <p:nvSpPr>
          <p:cNvPr id="11" name="Shape 9"/>
          <p:cNvSpPr/>
          <p:nvPr/>
        </p:nvSpPr>
        <p:spPr>
          <a:xfrm>
            <a:off x="457200" y="1508760"/>
            <a:ext cx="5321808" cy="384048"/>
          </a:xfrm>
          <a:prstGeom prst="rect">
            <a:avLst/>
          </a:prstGeom>
          <a:solidFill>
            <a:srgbClr val="E0F2FE"/>
          </a:solidFill>
          <a:ln w="12700">
            <a:solidFill>
              <a:srgbClr val="E0F2FE"/>
            </a:solidFill>
            <a:prstDash val="solid"/>
          </a:ln>
        </p:spPr>
      </p:sp>
      <p:sp>
        <p:nvSpPr>
          <p:cNvPr id="12" name="Text 10"/>
          <p:cNvSpPr/>
          <p:nvPr/>
        </p:nvSpPr>
        <p:spPr>
          <a:xfrm>
            <a:off x="521208" y="1527048"/>
            <a:ext cx="5212080" cy="347472"/>
          </a:xfrm>
          <a:prstGeom prst="rect">
            <a:avLst/>
          </a:prstGeom>
          <a:noFill/>
          <a:ln/>
        </p:spPr>
        <p:txBody>
          <a:bodyPr wrap="square" lIns="0" tIns="0" rIns="0" bIns="0" rtlCol="0" anchor="ctr"/>
          <a:lstStyle/>
          <a:p>
            <a:pPr marL="0" indent="0">
              <a:buNone/>
            </a:pPr>
            <a:r>
              <a:rPr lang="en-US" sz="850" dirty="0">
                <a:solidFill>
                  <a:srgbClr val="1A56C4"/>
                </a:solidFill>
                <a:latin typeface="Calibri" pitchFamily="34" charset="0"/>
                <a:ea typeface="Calibri" pitchFamily="34" charset="-122"/>
                <a:cs typeface="Calibri" pitchFamily="34" charset="-120"/>
              </a:rPr>
              <a:t>Formula:  Daily Sales = Σ (Order Qty × SKU) grouped by [Date × SKU × Location × Brand]</a:t>
            </a:r>
            <a:endParaRPr lang="en-US" sz="850" dirty="0"/>
          </a:p>
        </p:txBody>
      </p:sp>
      <p:sp>
        <p:nvSpPr>
          <p:cNvPr id="13" name="Text 11"/>
          <p:cNvSpPr/>
          <p:nvPr/>
        </p:nvSpPr>
        <p:spPr>
          <a:xfrm>
            <a:off x="457200" y="1965960"/>
            <a:ext cx="5321808" cy="256032"/>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Output: Clean Demand History</a:t>
            </a:r>
            <a:endParaRPr lang="en-US" sz="900" dirty="0"/>
          </a:p>
        </p:txBody>
      </p:sp>
      <p:sp>
        <p:nvSpPr>
          <p:cNvPr id="14" name="Text 12"/>
          <p:cNvSpPr/>
          <p:nvPr/>
        </p:nvSpPr>
        <p:spPr>
          <a:xfrm>
            <a:off x="457200" y="2240280"/>
            <a:ext cx="5321808" cy="41148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Requires: SKU deduplication, null date handling, channel separation</a:t>
            </a:r>
            <a:endParaRPr lang="en-US" sz="850" dirty="0"/>
          </a:p>
        </p:txBody>
      </p:sp>
      <p:sp>
        <p:nvSpPr>
          <p:cNvPr id="15" name="Shape 13"/>
          <p:cNvSpPr/>
          <p:nvPr/>
        </p:nvSpPr>
        <p:spPr>
          <a:xfrm>
            <a:off x="6263640" y="1097280"/>
            <a:ext cx="5623560" cy="1664208"/>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16" name="Shape 14"/>
          <p:cNvSpPr/>
          <p:nvPr/>
        </p:nvSpPr>
        <p:spPr>
          <a:xfrm>
            <a:off x="6263640" y="1097280"/>
            <a:ext cx="73152" cy="1664208"/>
          </a:xfrm>
          <a:prstGeom prst="rect">
            <a:avLst/>
          </a:prstGeom>
          <a:solidFill>
            <a:srgbClr val="3B82F6"/>
          </a:solidFill>
          <a:ln w="12700">
            <a:solidFill>
              <a:srgbClr val="3B82F6"/>
            </a:solidFill>
            <a:prstDash val="solid"/>
          </a:ln>
        </p:spPr>
      </p:sp>
      <p:sp>
        <p:nvSpPr>
          <p:cNvPr id="17" name="Shape 15"/>
          <p:cNvSpPr/>
          <p:nvPr/>
        </p:nvSpPr>
        <p:spPr>
          <a:xfrm>
            <a:off x="6400800" y="1188720"/>
            <a:ext cx="411480" cy="256032"/>
          </a:xfrm>
          <a:prstGeom prst="rect">
            <a:avLst/>
          </a:prstGeom>
          <a:solidFill>
            <a:srgbClr val="DBEAFE"/>
          </a:solidFill>
          <a:ln w="12700">
            <a:solidFill>
              <a:srgbClr val="DBEAFE"/>
            </a:solidFill>
            <a:prstDash val="solid"/>
          </a:ln>
        </p:spPr>
      </p:sp>
      <p:sp>
        <p:nvSpPr>
          <p:cNvPr id="18" name="Text 16"/>
          <p:cNvSpPr/>
          <p:nvPr/>
        </p:nvSpPr>
        <p:spPr>
          <a:xfrm>
            <a:off x="6400800" y="1188720"/>
            <a:ext cx="411480" cy="256032"/>
          </a:xfrm>
          <a:prstGeom prst="rect">
            <a:avLst/>
          </a:prstGeom>
          <a:noFill/>
          <a:ln/>
        </p:spPr>
        <p:txBody>
          <a:bodyPr wrap="square" lIns="0" tIns="0" rIns="0" bIns="0" rtlCol="0" anchor="ctr"/>
          <a:lstStyle/>
          <a:p>
            <a:pPr marL="0" indent="0" algn="ctr">
              <a:buNone/>
            </a:pPr>
            <a:r>
              <a:rPr lang="en-US" sz="850" b="1" dirty="0">
                <a:solidFill>
                  <a:srgbClr val="3B82F6"/>
                </a:solidFill>
                <a:latin typeface="Calibri" pitchFamily="34" charset="0"/>
                <a:ea typeface="Calibri" pitchFamily="34" charset="-122"/>
                <a:cs typeface="Calibri" pitchFamily="34" charset="-120"/>
              </a:rPr>
              <a:t>M2</a:t>
            </a:r>
            <a:endParaRPr lang="en-US" sz="850" dirty="0"/>
          </a:p>
        </p:txBody>
      </p:sp>
      <p:sp>
        <p:nvSpPr>
          <p:cNvPr id="19" name="Text 17"/>
          <p:cNvSpPr/>
          <p:nvPr/>
        </p:nvSpPr>
        <p:spPr>
          <a:xfrm>
            <a:off x="6885432" y="1188720"/>
            <a:ext cx="4846320" cy="256032"/>
          </a:xfrm>
          <a:prstGeom prst="rect">
            <a:avLst/>
          </a:prstGeom>
          <a:noFill/>
          <a:ln/>
        </p:spPr>
        <p:txBody>
          <a:bodyPr wrap="square" lIns="0" tIns="0" rIns="0" bIns="0" rtlCol="0" anchor="ctr"/>
          <a:lstStyle/>
          <a:p>
            <a:pPr marL="0" indent="0">
              <a:buNone/>
            </a:pPr>
            <a:r>
              <a:rPr lang="en-US" sz="1100" b="1" dirty="0">
                <a:solidFill>
                  <a:srgbClr val="0D1B3E"/>
                </a:solidFill>
                <a:latin typeface="Trebuchet MS" pitchFamily="34" charset="0"/>
                <a:ea typeface="Trebuchet MS" pitchFamily="34" charset="-122"/>
                <a:cs typeface="Trebuchet MS" pitchFamily="34" charset="-120"/>
              </a:rPr>
              <a:t>Forecasting Engine</a:t>
            </a:r>
            <a:endParaRPr lang="en-US" sz="1100" dirty="0"/>
          </a:p>
        </p:txBody>
      </p:sp>
      <p:sp>
        <p:nvSpPr>
          <p:cNvPr id="20" name="Shape 18"/>
          <p:cNvSpPr/>
          <p:nvPr/>
        </p:nvSpPr>
        <p:spPr>
          <a:xfrm>
            <a:off x="6400800" y="1508760"/>
            <a:ext cx="5321808" cy="384048"/>
          </a:xfrm>
          <a:prstGeom prst="rect">
            <a:avLst/>
          </a:prstGeom>
          <a:solidFill>
            <a:srgbClr val="DBEAFE"/>
          </a:solidFill>
          <a:ln w="12700">
            <a:solidFill>
              <a:srgbClr val="DBEAFE"/>
            </a:solidFill>
            <a:prstDash val="solid"/>
          </a:ln>
        </p:spPr>
      </p:sp>
      <p:sp>
        <p:nvSpPr>
          <p:cNvPr id="21" name="Text 19"/>
          <p:cNvSpPr/>
          <p:nvPr/>
        </p:nvSpPr>
        <p:spPr>
          <a:xfrm>
            <a:off x="6464808" y="1527048"/>
            <a:ext cx="5212080" cy="347472"/>
          </a:xfrm>
          <a:prstGeom prst="rect">
            <a:avLst/>
          </a:prstGeom>
          <a:noFill/>
          <a:ln/>
        </p:spPr>
        <p:txBody>
          <a:bodyPr wrap="square" lIns="0" tIns="0" rIns="0" bIns="0" rtlCol="0" anchor="ctr"/>
          <a:lstStyle/>
          <a:p>
            <a:pPr marL="0" indent="0">
              <a:buNone/>
            </a:pPr>
            <a:r>
              <a:rPr lang="en-US" sz="850" dirty="0">
                <a:solidFill>
                  <a:srgbClr val="3B82F6"/>
                </a:solidFill>
                <a:latin typeface="Calibri" pitchFamily="34" charset="0"/>
                <a:ea typeface="Calibri" pitchFamily="34" charset="-122"/>
                <a:cs typeface="Calibri" pitchFamily="34" charset="-120"/>
              </a:rPr>
              <a:t>Formula:  Forecast(t) = Base × Trend Factor × Seasonality Index × Growth% × Event Multiplier</a:t>
            </a:r>
            <a:endParaRPr lang="en-US" sz="850" dirty="0"/>
          </a:p>
        </p:txBody>
      </p:sp>
      <p:sp>
        <p:nvSpPr>
          <p:cNvPr id="22" name="Text 20"/>
          <p:cNvSpPr/>
          <p:nvPr/>
        </p:nvSpPr>
        <p:spPr>
          <a:xfrm>
            <a:off x="6400800" y="1965960"/>
            <a:ext cx="5321808" cy="256032"/>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Output: SKU × Location × Horizon Forecast</a:t>
            </a:r>
            <a:endParaRPr lang="en-US" sz="900" dirty="0"/>
          </a:p>
        </p:txBody>
      </p:sp>
      <p:sp>
        <p:nvSpPr>
          <p:cNvPr id="23" name="Text 21"/>
          <p:cNvSpPr/>
          <p:nvPr/>
        </p:nvSpPr>
        <p:spPr>
          <a:xfrm>
            <a:off x="6400800" y="2240280"/>
            <a:ext cx="5321808" cy="41148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Driven by: 6-month history + day-of-week + festival calendar + growth assumption</a:t>
            </a:r>
            <a:endParaRPr lang="en-US" sz="850" dirty="0"/>
          </a:p>
        </p:txBody>
      </p:sp>
      <p:sp>
        <p:nvSpPr>
          <p:cNvPr id="24" name="Shape 22"/>
          <p:cNvSpPr/>
          <p:nvPr/>
        </p:nvSpPr>
        <p:spPr>
          <a:xfrm>
            <a:off x="320040" y="2926080"/>
            <a:ext cx="5623560" cy="1664208"/>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25" name="Shape 23"/>
          <p:cNvSpPr/>
          <p:nvPr/>
        </p:nvSpPr>
        <p:spPr>
          <a:xfrm>
            <a:off x="320040" y="2926080"/>
            <a:ext cx="73152" cy="1664208"/>
          </a:xfrm>
          <a:prstGeom prst="rect">
            <a:avLst/>
          </a:prstGeom>
          <a:solidFill>
            <a:srgbClr val="0EA5E9"/>
          </a:solidFill>
          <a:ln w="12700">
            <a:solidFill>
              <a:srgbClr val="0EA5E9"/>
            </a:solidFill>
            <a:prstDash val="solid"/>
          </a:ln>
        </p:spPr>
      </p:sp>
      <p:sp>
        <p:nvSpPr>
          <p:cNvPr id="26" name="Shape 24"/>
          <p:cNvSpPr/>
          <p:nvPr/>
        </p:nvSpPr>
        <p:spPr>
          <a:xfrm>
            <a:off x="457200" y="3017520"/>
            <a:ext cx="411480" cy="256032"/>
          </a:xfrm>
          <a:prstGeom prst="rect">
            <a:avLst/>
          </a:prstGeom>
          <a:solidFill>
            <a:srgbClr val="CFFAFE"/>
          </a:solidFill>
          <a:ln w="12700">
            <a:solidFill>
              <a:srgbClr val="CFFAFE"/>
            </a:solidFill>
            <a:prstDash val="solid"/>
          </a:ln>
        </p:spPr>
      </p:sp>
      <p:sp>
        <p:nvSpPr>
          <p:cNvPr id="27" name="Text 25"/>
          <p:cNvSpPr/>
          <p:nvPr/>
        </p:nvSpPr>
        <p:spPr>
          <a:xfrm>
            <a:off x="457200" y="3017520"/>
            <a:ext cx="411480" cy="256032"/>
          </a:xfrm>
          <a:prstGeom prst="rect">
            <a:avLst/>
          </a:prstGeom>
          <a:noFill/>
          <a:ln/>
        </p:spPr>
        <p:txBody>
          <a:bodyPr wrap="square" lIns="0" tIns="0" rIns="0" bIns="0" rtlCol="0" anchor="ctr"/>
          <a:lstStyle/>
          <a:p>
            <a:pPr marL="0" indent="0" algn="ctr">
              <a:buNone/>
            </a:pPr>
            <a:r>
              <a:rPr lang="en-US" sz="850" b="1" dirty="0">
                <a:solidFill>
                  <a:srgbClr val="0EA5E9"/>
                </a:solidFill>
                <a:latin typeface="Calibri" pitchFamily="34" charset="0"/>
                <a:ea typeface="Calibri" pitchFamily="34" charset="-122"/>
                <a:cs typeface="Calibri" pitchFamily="34" charset="-120"/>
              </a:rPr>
              <a:t>M3</a:t>
            </a:r>
            <a:endParaRPr lang="en-US" sz="850" dirty="0"/>
          </a:p>
        </p:txBody>
      </p:sp>
      <p:sp>
        <p:nvSpPr>
          <p:cNvPr id="28" name="Text 26"/>
          <p:cNvSpPr/>
          <p:nvPr/>
        </p:nvSpPr>
        <p:spPr>
          <a:xfrm>
            <a:off x="941832" y="3017520"/>
            <a:ext cx="4846320" cy="256032"/>
          </a:xfrm>
          <a:prstGeom prst="rect">
            <a:avLst/>
          </a:prstGeom>
          <a:noFill/>
          <a:ln/>
        </p:spPr>
        <p:txBody>
          <a:bodyPr wrap="square" lIns="0" tIns="0" rIns="0" bIns="0" rtlCol="0" anchor="ctr"/>
          <a:lstStyle/>
          <a:p>
            <a:pPr marL="0" indent="0">
              <a:buNone/>
            </a:pPr>
            <a:r>
              <a:rPr lang="en-US" sz="1100" b="1" dirty="0">
                <a:solidFill>
                  <a:srgbClr val="0D1B3E"/>
                </a:solidFill>
                <a:latin typeface="Trebuchet MS" pitchFamily="34" charset="0"/>
                <a:ea typeface="Trebuchet MS" pitchFamily="34" charset="-122"/>
                <a:cs typeface="Trebuchet MS" pitchFamily="34" charset="-120"/>
              </a:rPr>
              <a:t>Internal Supply Planning</a:t>
            </a:r>
            <a:endParaRPr lang="en-US" sz="1100" dirty="0"/>
          </a:p>
        </p:txBody>
      </p:sp>
      <p:sp>
        <p:nvSpPr>
          <p:cNvPr id="29" name="Shape 27"/>
          <p:cNvSpPr/>
          <p:nvPr/>
        </p:nvSpPr>
        <p:spPr>
          <a:xfrm>
            <a:off x="457200" y="3337560"/>
            <a:ext cx="5321808" cy="384048"/>
          </a:xfrm>
          <a:prstGeom prst="rect">
            <a:avLst/>
          </a:prstGeom>
          <a:solidFill>
            <a:srgbClr val="CFFAFE"/>
          </a:solidFill>
          <a:ln w="12700">
            <a:solidFill>
              <a:srgbClr val="CFFAFE"/>
            </a:solidFill>
            <a:prstDash val="solid"/>
          </a:ln>
        </p:spPr>
      </p:sp>
      <p:sp>
        <p:nvSpPr>
          <p:cNvPr id="30" name="Text 28"/>
          <p:cNvSpPr/>
          <p:nvPr/>
        </p:nvSpPr>
        <p:spPr>
          <a:xfrm>
            <a:off x="521208" y="3355848"/>
            <a:ext cx="5212080" cy="347472"/>
          </a:xfrm>
          <a:prstGeom prst="rect">
            <a:avLst/>
          </a:prstGeom>
          <a:noFill/>
          <a:ln/>
        </p:spPr>
        <p:txBody>
          <a:bodyPr wrap="square" lIns="0" tIns="0" rIns="0" bIns="0" rtlCol="0" anchor="ctr"/>
          <a:lstStyle/>
          <a:p>
            <a:pPr marL="0" indent="0">
              <a:buNone/>
            </a:pPr>
            <a:r>
              <a:rPr lang="en-US" sz="850" dirty="0">
                <a:solidFill>
                  <a:srgbClr val="0EA5E9"/>
                </a:solidFill>
                <a:latin typeface="Calibri" pitchFamily="34" charset="0"/>
                <a:ea typeface="Calibri" pitchFamily="34" charset="-122"/>
                <a:cs typeface="Calibri" pitchFamily="34" charset="-120"/>
              </a:rPr>
              <a:t>Formula:  Replenishment = Forecast Demand + Safety Stock − Available Kitchen/Outlet Stock</a:t>
            </a:r>
            <a:endParaRPr lang="en-US" sz="850" dirty="0"/>
          </a:p>
        </p:txBody>
      </p:sp>
      <p:sp>
        <p:nvSpPr>
          <p:cNvPr id="31" name="Text 29"/>
          <p:cNvSpPr/>
          <p:nvPr/>
        </p:nvSpPr>
        <p:spPr>
          <a:xfrm>
            <a:off x="457200" y="3794760"/>
            <a:ext cx="5321808" cy="256032"/>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Output: Kitchen-level replenishment requirement</a:t>
            </a:r>
            <a:endParaRPr lang="en-US" sz="900" dirty="0"/>
          </a:p>
        </p:txBody>
      </p:sp>
      <p:sp>
        <p:nvSpPr>
          <p:cNvPr id="32" name="Text 30"/>
          <p:cNvSpPr/>
          <p:nvPr/>
        </p:nvSpPr>
        <p:spPr>
          <a:xfrm>
            <a:off x="457200" y="4069080"/>
            <a:ext cx="5321808" cy="41148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Safety stock policy must be defined by planning team per SKU category</a:t>
            </a:r>
            <a:endParaRPr lang="en-US" sz="850" dirty="0"/>
          </a:p>
        </p:txBody>
      </p:sp>
      <p:sp>
        <p:nvSpPr>
          <p:cNvPr id="33" name="Shape 31"/>
          <p:cNvSpPr/>
          <p:nvPr/>
        </p:nvSpPr>
        <p:spPr>
          <a:xfrm>
            <a:off x="6263640" y="2926080"/>
            <a:ext cx="5623560" cy="1664208"/>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34" name="Shape 32"/>
          <p:cNvSpPr/>
          <p:nvPr/>
        </p:nvSpPr>
        <p:spPr>
          <a:xfrm>
            <a:off x="6263640" y="2926080"/>
            <a:ext cx="73152" cy="1664208"/>
          </a:xfrm>
          <a:prstGeom prst="rect">
            <a:avLst/>
          </a:prstGeom>
          <a:solidFill>
            <a:srgbClr val="16A34A"/>
          </a:solidFill>
          <a:ln w="12700">
            <a:solidFill>
              <a:srgbClr val="16A34A"/>
            </a:solidFill>
            <a:prstDash val="solid"/>
          </a:ln>
        </p:spPr>
      </p:sp>
      <p:sp>
        <p:nvSpPr>
          <p:cNvPr id="35" name="Shape 33"/>
          <p:cNvSpPr/>
          <p:nvPr/>
        </p:nvSpPr>
        <p:spPr>
          <a:xfrm>
            <a:off x="6400800" y="3017520"/>
            <a:ext cx="411480" cy="256032"/>
          </a:xfrm>
          <a:prstGeom prst="rect">
            <a:avLst/>
          </a:prstGeom>
          <a:solidFill>
            <a:srgbClr val="DCFCE7"/>
          </a:solidFill>
          <a:ln w="12700">
            <a:solidFill>
              <a:srgbClr val="DCFCE7"/>
            </a:solidFill>
            <a:prstDash val="solid"/>
          </a:ln>
        </p:spPr>
      </p:sp>
      <p:sp>
        <p:nvSpPr>
          <p:cNvPr id="36" name="Text 34"/>
          <p:cNvSpPr/>
          <p:nvPr/>
        </p:nvSpPr>
        <p:spPr>
          <a:xfrm>
            <a:off x="6400800" y="3017520"/>
            <a:ext cx="411480" cy="256032"/>
          </a:xfrm>
          <a:prstGeom prst="rect">
            <a:avLst/>
          </a:prstGeom>
          <a:noFill/>
          <a:ln/>
        </p:spPr>
        <p:txBody>
          <a:bodyPr wrap="square" lIns="0" tIns="0" rIns="0" bIns="0" rtlCol="0" anchor="ctr"/>
          <a:lstStyle/>
          <a:p>
            <a:pPr marL="0" indent="0" algn="ctr">
              <a:buNone/>
            </a:pPr>
            <a:r>
              <a:rPr lang="en-US" sz="850" b="1" dirty="0">
                <a:solidFill>
                  <a:srgbClr val="16A34A"/>
                </a:solidFill>
                <a:latin typeface="Calibri" pitchFamily="34" charset="0"/>
                <a:ea typeface="Calibri" pitchFamily="34" charset="-122"/>
                <a:cs typeface="Calibri" pitchFamily="34" charset="-120"/>
              </a:rPr>
              <a:t>M4</a:t>
            </a:r>
            <a:endParaRPr lang="en-US" sz="850" dirty="0"/>
          </a:p>
        </p:txBody>
      </p:sp>
      <p:sp>
        <p:nvSpPr>
          <p:cNvPr id="37" name="Text 35"/>
          <p:cNvSpPr/>
          <p:nvPr/>
        </p:nvSpPr>
        <p:spPr>
          <a:xfrm>
            <a:off x="6885432" y="3017520"/>
            <a:ext cx="4846320" cy="256032"/>
          </a:xfrm>
          <a:prstGeom prst="rect">
            <a:avLst/>
          </a:prstGeom>
          <a:noFill/>
          <a:ln/>
        </p:spPr>
        <p:txBody>
          <a:bodyPr wrap="square" lIns="0" tIns="0" rIns="0" bIns="0" rtlCol="0" anchor="ctr"/>
          <a:lstStyle/>
          <a:p>
            <a:pPr marL="0" indent="0">
              <a:buNone/>
            </a:pPr>
            <a:r>
              <a:rPr lang="en-US" sz="1100" b="1" dirty="0">
                <a:solidFill>
                  <a:srgbClr val="0D1B3E"/>
                </a:solidFill>
                <a:latin typeface="Trebuchet MS" pitchFamily="34" charset="0"/>
                <a:ea typeface="Trebuchet MS" pitchFamily="34" charset="-122"/>
                <a:cs typeface="Trebuchet MS" pitchFamily="34" charset="-120"/>
              </a:rPr>
              <a:t>Recipe Explosion</a:t>
            </a:r>
            <a:endParaRPr lang="en-US" sz="1100" dirty="0"/>
          </a:p>
        </p:txBody>
      </p:sp>
      <p:sp>
        <p:nvSpPr>
          <p:cNvPr id="38" name="Shape 36"/>
          <p:cNvSpPr/>
          <p:nvPr/>
        </p:nvSpPr>
        <p:spPr>
          <a:xfrm>
            <a:off x="6400800" y="3337560"/>
            <a:ext cx="5321808" cy="384048"/>
          </a:xfrm>
          <a:prstGeom prst="rect">
            <a:avLst/>
          </a:prstGeom>
          <a:solidFill>
            <a:srgbClr val="DCFCE7"/>
          </a:solidFill>
          <a:ln w="12700">
            <a:solidFill>
              <a:srgbClr val="DCFCE7"/>
            </a:solidFill>
            <a:prstDash val="solid"/>
          </a:ln>
        </p:spPr>
      </p:sp>
      <p:sp>
        <p:nvSpPr>
          <p:cNvPr id="39" name="Text 37"/>
          <p:cNvSpPr/>
          <p:nvPr/>
        </p:nvSpPr>
        <p:spPr>
          <a:xfrm>
            <a:off x="6464808" y="3355848"/>
            <a:ext cx="5212080" cy="347472"/>
          </a:xfrm>
          <a:prstGeom prst="rect">
            <a:avLst/>
          </a:prstGeom>
          <a:noFill/>
          <a:ln/>
        </p:spPr>
        <p:txBody>
          <a:bodyPr wrap="square" lIns="0" tIns="0" rIns="0" bIns="0" rtlCol="0" anchor="ctr"/>
          <a:lstStyle/>
          <a:p>
            <a:pPr marL="0" indent="0">
              <a:buNone/>
            </a:pPr>
            <a:r>
              <a:rPr lang="en-US" sz="850" dirty="0">
                <a:solidFill>
                  <a:srgbClr val="16A34A"/>
                </a:solidFill>
                <a:latin typeface="Calibri" pitchFamily="34" charset="0"/>
                <a:ea typeface="Calibri" pitchFamily="34" charset="-122"/>
                <a:cs typeface="Calibri" pitchFamily="34" charset="-120"/>
              </a:rPr>
              <a:t>Formula:  Ingredient Demand = Σ (Forecast Units × Recipe Qty per Ingredient) × Yield Factor</a:t>
            </a:r>
            <a:endParaRPr lang="en-US" sz="850" dirty="0"/>
          </a:p>
        </p:txBody>
      </p:sp>
      <p:sp>
        <p:nvSpPr>
          <p:cNvPr id="40" name="Text 38"/>
          <p:cNvSpPr/>
          <p:nvPr/>
        </p:nvSpPr>
        <p:spPr>
          <a:xfrm>
            <a:off x="6400800" y="3794760"/>
            <a:ext cx="5321808" cy="256032"/>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Output: Total RM + PM requirement in standard UOM</a:t>
            </a:r>
            <a:endParaRPr lang="en-US" sz="900" dirty="0"/>
          </a:p>
        </p:txBody>
      </p:sp>
      <p:sp>
        <p:nvSpPr>
          <p:cNvPr id="41" name="Text 39"/>
          <p:cNvSpPr/>
          <p:nvPr/>
        </p:nvSpPr>
        <p:spPr>
          <a:xfrm>
            <a:off x="6400800" y="4069080"/>
            <a:ext cx="5321808" cy="41148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 Highest risk module — recipe errors directly multiply into procurement errors</a:t>
            </a:r>
            <a:endParaRPr lang="en-US" sz="850" dirty="0"/>
          </a:p>
        </p:txBody>
      </p:sp>
      <p:sp>
        <p:nvSpPr>
          <p:cNvPr id="42" name="Shape 40"/>
          <p:cNvSpPr/>
          <p:nvPr/>
        </p:nvSpPr>
        <p:spPr>
          <a:xfrm>
            <a:off x="320040" y="4754880"/>
            <a:ext cx="5623560" cy="1664208"/>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43" name="Shape 41"/>
          <p:cNvSpPr/>
          <p:nvPr/>
        </p:nvSpPr>
        <p:spPr>
          <a:xfrm>
            <a:off x="320040" y="4754880"/>
            <a:ext cx="73152" cy="1664208"/>
          </a:xfrm>
          <a:prstGeom prst="rect">
            <a:avLst/>
          </a:prstGeom>
          <a:solidFill>
            <a:srgbClr val="EA580C"/>
          </a:solidFill>
          <a:ln w="12700">
            <a:solidFill>
              <a:srgbClr val="EA580C"/>
            </a:solidFill>
            <a:prstDash val="solid"/>
          </a:ln>
        </p:spPr>
      </p:sp>
      <p:sp>
        <p:nvSpPr>
          <p:cNvPr id="44" name="Shape 42"/>
          <p:cNvSpPr/>
          <p:nvPr/>
        </p:nvSpPr>
        <p:spPr>
          <a:xfrm>
            <a:off x="457200" y="4846320"/>
            <a:ext cx="411480" cy="256032"/>
          </a:xfrm>
          <a:prstGeom prst="rect">
            <a:avLst/>
          </a:prstGeom>
          <a:solidFill>
            <a:srgbClr val="FFEDD5"/>
          </a:solidFill>
          <a:ln w="12700">
            <a:solidFill>
              <a:srgbClr val="FFEDD5"/>
            </a:solidFill>
            <a:prstDash val="solid"/>
          </a:ln>
        </p:spPr>
      </p:sp>
      <p:sp>
        <p:nvSpPr>
          <p:cNvPr id="45" name="Text 43"/>
          <p:cNvSpPr/>
          <p:nvPr/>
        </p:nvSpPr>
        <p:spPr>
          <a:xfrm>
            <a:off x="457200" y="4846320"/>
            <a:ext cx="411480" cy="256032"/>
          </a:xfrm>
          <a:prstGeom prst="rect">
            <a:avLst/>
          </a:prstGeom>
          <a:noFill/>
          <a:ln/>
        </p:spPr>
        <p:txBody>
          <a:bodyPr wrap="square" lIns="0" tIns="0" rIns="0" bIns="0" rtlCol="0" anchor="ctr"/>
          <a:lstStyle/>
          <a:p>
            <a:pPr marL="0" indent="0" algn="ctr">
              <a:buNone/>
            </a:pPr>
            <a:r>
              <a:rPr lang="en-US" sz="850" b="1" dirty="0">
                <a:solidFill>
                  <a:srgbClr val="EA580C"/>
                </a:solidFill>
                <a:latin typeface="Calibri" pitchFamily="34" charset="0"/>
                <a:ea typeface="Calibri" pitchFamily="34" charset="-122"/>
                <a:cs typeface="Calibri" pitchFamily="34" charset="-120"/>
              </a:rPr>
              <a:t>M5</a:t>
            </a:r>
            <a:endParaRPr lang="en-US" sz="850" dirty="0"/>
          </a:p>
        </p:txBody>
      </p:sp>
      <p:sp>
        <p:nvSpPr>
          <p:cNvPr id="46" name="Text 44"/>
          <p:cNvSpPr/>
          <p:nvPr/>
        </p:nvSpPr>
        <p:spPr>
          <a:xfrm>
            <a:off x="941832" y="4846320"/>
            <a:ext cx="4846320" cy="256032"/>
          </a:xfrm>
          <a:prstGeom prst="rect">
            <a:avLst/>
          </a:prstGeom>
          <a:noFill/>
          <a:ln/>
        </p:spPr>
        <p:txBody>
          <a:bodyPr wrap="square" lIns="0" tIns="0" rIns="0" bIns="0" rtlCol="0" anchor="ctr"/>
          <a:lstStyle/>
          <a:p>
            <a:pPr marL="0" indent="0">
              <a:buNone/>
            </a:pPr>
            <a:r>
              <a:rPr lang="en-US" sz="1100" b="1" dirty="0">
                <a:solidFill>
                  <a:srgbClr val="0D1B3E"/>
                </a:solidFill>
                <a:latin typeface="Trebuchet MS" pitchFamily="34" charset="0"/>
                <a:ea typeface="Trebuchet MS" pitchFamily="34" charset="-122"/>
                <a:cs typeface="Trebuchet MS" pitchFamily="34" charset="-120"/>
              </a:rPr>
              <a:t>Warehouse Planning</a:t>
            </a:r>
            <a:endParaRPr lang="en-US" sz="1100" dirty="0"/>
          </a:p>
        </p:txBody>
      </p:sp>
      <p:sp>
        <p:nvSpPr>
          <p:cNvPr id="47" name="Shape 45"/>
          <p:cNvSpPr/>
          <p:nvPr/>
        </p:nvSpPr>
        <p:spPr>
          <a:xfrm>
            <a:off x="457200" y="5166360"/>
            <a:ext cx="5321808" cy="384048"/>
          </a:xfrm>
          <a:prstGeom prst="rect">
            <a:avLst/>
          </a:prstGeom>
          <a:solidFill>
            <a:srgbClr val="FFEDD5"/>
          </a:solidFill>
          <a:ln w="12700">
            <a:solidFill>
              <a:srgbClr val="FFEDD5"/>
            </a:solidFill>
            <a:prstDash val="solid"/>
          </a:ln>
        </p:spPr>
      </p:sp>
      <p:sp>
        <p:nvSpPr>
          <p:cNvPr id="48" name="Text 46"/>
          <p:cNvSpPr/>
          <p:nvPr/>
        </p:nvSpPr>
        <p:spPr>
          <a:xfrm>
            <a:off x="521208" y="5184648"/>
            <a:ext cx="5212080" cy="347472"/>
          </a:xfrm>
          <a:prstGeom prst="rect">
            <a:avLst/>
          </a:prstGeom>
          <a:noFill/>
          <a:ln/>
        </p:spPr>
        <p:txBody>
          <a:bodyPr wrap="square" lIns="0" tIns="0" rIns="0" bIns="0" rtlCol="0" anchor="ctr"/>
          <a:lstStyle/>
          <a:p>
            <a:pPr marL="0" indent="0">
              <a:buNone/>
            </a:pPr>
            <a:r>
              <a:rPr lang="en-US" sz="850" dirty="0">
                <a:solidFill>
                  <a:srgbClr val="EA580C"/>
                </a:solidFill>
                <a:latin typeface="Calibri" pitchFamily="34" charset="0"/>
                <a:ea typeface="Calibri" pitchFamily="34" charset="-122"/>
                <a:cs typeface="Calibri" pitchFamily="34" charset="-120"/>
              </a:rPr>
              <a:t>Formula:  Net Warehouse Requirement = Total Ingredient Demand − Current Warehouse Stock</a:t>
            </a:r>
            <a:endParaRPr lang="en-US" sz="850" dirty="0"/>
          </a:p>
        </p:txBody>
      </p:sp>
      <p:sp>
        <p:nvSpPr>
          <p:cNvPr id="49" name="Text 47"/>
          <p:cNvSpPr/>
          <p:nvPr/>
        </p:nvSpPr>
        <p:spPr>
          <a:xfrm>
            <a:off x="457200" y="5623560"/>
            <a:ext cx="5321808" cy="256032"/>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Output: Ingredient-level shortage / surplus report</a:t>
            </a:r>
            <a:endParaRPr lang="en-US" sz="900" dirty="0"/>
          </a:p>
        </p:txBody>
      </p:sp>
      <p:sp>
        <p:nvSpPr>
          <p:cNvPr id="50" name="Text 48"/>
          <p:cNvSpPr/>
          <p:nvPr/>
        </p:nvSpPr>
        <p:spPr>
          <a:xfrm>
            <a:off x="457200" y="5897880"/>
            <a:ext cx="5321808" cy="41148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Stock adjustments and GRN accuracy in SupplyNote is critical here</a:t>
            </a:r>
            <a:endParaRPr lang="en-US" sz="850" dirty="0"/>
          </a:p>
        </p:txBody>
      </p:sp>
      <p:sp>
        <p:nvSpPr>
          <p:cNvPr id="51" name="Shape 49"/>
          <p:cNvSpPr/>
          <p:nvPr/>
        </p:nvSpPr>
        <p:spPr>
          <a:xfrm>
            <a:off x="6263640" y="4754880"/>
            <a:ext cx="5623560" cy="1664208"/>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52" name="Shape 50"/>
          <p:cNvSpPr/>
          <p:nvPr/>
        </p:nvSpPr>
        <p:spPr>
          <a:xfrm>
            <a:off x="6263640" y="4754880"/>
            <a:ext cx="73152" cy="1664208"/>
          </a:xfrm>
          <a:prstGeom prst="rect">
            <a:avLst/>
          </a:prstGeom>
          <a:solidFill>
            <a:srgbClr val="DC2626"/>
          </a:solidFill>
          <a:ln w="12700">
            <a:solidFill>
              <a:srgbClr val="DC2626"/>
            </a:solidFill>
            <a:prstDash val="solid"/>
          </a:ln>
        </p:spPr>
      </p:sp>
      <p:sp>
        <p:nvSpPr>
          <p:cNvPr id="53" name="Shape 51"/>
          <p:cNvSpPr/>
          <p:nvPr/>
        </p:nvSpPr>
        <p:spPr>
          <a:xfrm>
            <a:off x="6400800" y="4846320"/>
            <a:ext cx="411480" cy="256032"/>
          </a:xfrm>
          <a:prstGeom prst="rect">
            <a:avLst/>
          </a:prstGeom>
          <a:solidFill>
            <a:srgbClr val="FEF2F2"/>
          </a:solidFill>
          <a:ln w="12700">
            <a:solidFill>
              <a:srgbClr val="FEF2F2"/>
            </a:solidFill>
            <a:prstDash val="solid"/>
          </a:ln>
        </p:spPr>
      </p:sp>
      <p:sp>
        <p:nvSpPr>
          <p:cNvPr id="54" name="Text 52"/>
          <p:cNvSpPr/>
          <p:nvPr/>
        </p:nvSpPr>
        <p:spPr>
          <a:xfrm>
            <a:off x="6400800" y="4846320"/>
            <a:ext cx="411480" cy="256032"/>
          </a:xfrm>
          <a:prstGeom prst="rect">
            <a:avLst/>
          </a:prstGeom>
          <a:noFill/>
          <a:ln/>
        </p:spPr>
        <p:txBody>
          <a:bodyPr wrap="square" lIns="0" tIns="0" rIns="0" bIns="0" rtlCol="0" anchor="ctr"/>
          <a:lstStyle/>
          <a:p>
            <a:pPr marL="0" indent="0" algn="ctr">
              <a:buNone/>
            </a:pPr>
            <a:r>
              <a:rPr lang="en-US" sz="850" b="1" dirty="0">
                <a:solidFill>
                  <a:srgbClr val="DC2626"/>
                </a:solidFill>
                <a:latin typeface="Calibri" pitchFamily="34" charset="0"/>
                <a:ea typeface="Calibri" pitchFamily="34" charset="-122"/>
                <a:cs typeface="Calibri" pitchFamily="34" charset="-120"/>
              </a:rPr>
              <a:t>M6</a:t>
            </a:r>
            <a:endParaRPr lang="en-US" sz="850" dirty="0"/>
          </a:p>
        </p:txBody>
      </p:sp>
      <p:sp>
        <p:nvSpPr>
          <p:cNvPr id="55" name="Text 53"/>
          <p:cNvSpPr/>
          <p:nvPr/>
        </p:nvSpPr>
        <p:spPr>
          <a:xfrm>
            <a:off x="6885432" y="4846320"/>
            <a:ext cx="4846320" cy="256032"/>
          </a:xfrm>
          <a:prstGeom prst="rect">
            <a:avLst/>
          </a:prstGeom>
          <a:noFill/>
          <a:ln/>
        </p:spPr>
        <p:txBody>
          <a:bodyPr wrap="square" lIns="0" tIns="0" rIns="0" bIns="0" rtlCol="0" anchor="ctr"/>
          <a:lstStyle/>
          <a:p>
            <a:pPr marL="0" indent="0">
              <a:buNone/>
            </a:pPr>
            <a:r>
              <a:rPr lang="en-US" sz="1100" b="1" dirty="0">
                <a:solidFill>
                  <a:srgbClr val="0D1B3E"/>
                </a:solidFill>
                <a:latin typeface="Trebuchet MS" pitchFamily="34" charset="0"/>
                <a:ea typeface="Trebuchet MS" pitchFamily="34" charset="-122"/>
                <a:cs typeface="Trebuchet MS" pitchFamily="34" charset="-120"/>
              </a:rPr>
              <a:t>Procurement Engine</a:t>
            </a:r>
            <a:endParaRPr lang="en-US" sz="1100" dirty="0"/>
          </a:p>
        </p:txBody>
      </p:sp>
      <p:sp>
        <p:nvSpPr>
          <p:cNvPr id="56" name="Shape 54"/>
          <p:cNvSpPr/>
          <p:nvPr/>
        </p:nvSpPr>
        <p:spPr>
          <a:xfrm>
            <a:off x="6400800" y="5166360"/>
            <a:ext cx="5321808" cy="384048"/>
          </a:xfrm>
          <a:prstGeom prst="rect">
            <a:avLst/>
          </a:prstGeom>
          <a:solidFill>
            <a:srgbClr val="FEF2F2"/>
          </a:solidFill>
          <a:ln w="12700">
            <a:solidFill>
              <a:srgbClr val="FEF2F2"/>
            </a:solidFill>
            <a:prstDash val="solid"/>
          </a:ln>
        </p:spPr>
      </p:sp>
      <p:sp>
        <p:nvSpPr>
          <p:cNvPr id="57" name="Text 55"/>
          <p:cNvSpPr/>
          <p:nvPr/>
        </p:nvSpPr>
        <p:spPr>
          <a:xfrm>
            <a:off x="6464808" y="5184648"/>
            <a:ext cx="5212080" cy="347472"/>
          </a:xfrm>
          <a:prstGeom prst="rect">
            <a:avLst/>
          </a:prstGeom>
          <a:noFill/>
          <a:ln/>
        </p:spPr>
        <p:txBody>
          <a:bodyPr wrap="square" lIns="0" tIns="0" rIns="0" bIns="0" rtlCol="0" anchor="ctr"/>
          <a:lstStyle/>
          <a:p>
            <a:pPr marL="0" indent="0">
              <a:buNone/>
            </a:pPr>
            <a:r>
              <a:rPr lang="en-US" sz="850" dirty="0">
                <a:solidFill>
                  <a:srgbClr val="DC2626"/>
                </a:solidFill>
                <a:latin typeface="Calibri" pitchFamily="34" charset="0"/>
                <a:ea typeface="Calibri" pitchFamily="34" charset="-122"/>
                <a:cs typeface="Calibri" pitchFamily="34" charset="-120"/>
              </a:rPr>
              <a:t>Formula:  Procurement Qty = Net Requirement + Safety Stock − Open PO Qty  [rounded up to MOQ]</a:t>
            </a:r>
            <a:endParaRPr lang="en-US" sz="850" dirty="0"/>
          </a:p>
        </p:txBody>
      </p:sp>
      <p:sp>
        <p:nvSpPr>
          <p:cNvPr id="58" name="Text 56"/>
          <p:cNvSpPr/>
          <p:nvPr/>
        </p:nvSpPr>
        <p:spPr>
          <a:xfrm>
            <a:off x="6400800" y="5623560"/>
            <a:ext cx="5321808" cy="256032"/>
          </a:xfrm>
          <a:prstGeom prst="rect">
            <a:avLst/>
          </a:prstGeom>
          <a:noFill/>
          <a:ln/>
        </p:spPr>
        <p:txBody>
          <a:bodyPr wrap="square" lIns="0" tIns="0" rIns="0" bIns="0" rtlCol="0" anchor="ctr"/>
          <a:lstStyle/>
          <a:p>
            <a:pPr marL="0" indent="0">
              <a:buNone/>
            </a:pPr>
            <a:r>
              <a:rPr lang="en-US" sz="900" b="1" dirty="0">
                <a:solidFill>
                  <a:srgbClr val="16A34A"/>
                </a:solidFill>
                <a:latin typeface="Calibri" pitchFamily="34" charset="0"/>
                <a:ea typeface="Calibri" pitchFamily="34" charset="-122"/>
                <a:cs typeface="Calibri" pitchFamily="34" charset="-120"/>
              </a:rPr>
              <a:t>Output: Supplier-wise purchase recommendation</a:t>
            </a:r>
            <a:endParaRPr lang="en-US" sz="900" dirty="0"/>
          </a:p>
        </p:txBody>
      </p:sp>
      <p:sp>
        <p:nvSpPr>
          <p:cNvPr id="59" name="Text 57"/>
          <p:cNvSpPr/>
          <p:nvPr/>
        </p:nvSpPr>
        <p:spPr>
          <a:xfrm>
            <a:off x="6400800" y="5897880"/>
            <a:ext cx="5321808" cy="411480"/>
          </a:xfrm>
          <a:prstGeom prst="rect">
            <a:avLst/>
          </a:prstGeom>
          <a:noFill/>
          <a:ln/>
        </p:spPr>
        <p:txBody>
          <a:bodyPr wrap="square" lIns="0" tIns="0" rIns="0" bIns="0" rtlCol="0" anchor="ctr"/>
          <a:lstStyle/>
          <a:p>
            <a:pPr marL="0" indent="0">
              <a:buNone/>
            </a:pPr>
            <a:r>
              <a:rPr lang="en-US" sz="850" dirty="0">
                <a:solidFill>
                  <a:srgbClr val="475569"/>
                </a:solidFill>
                <a:latin typeface="Calibri" pitchFamily="34" charset="0"/>
                <a:ea typeface="Calibri" pitchFamily="34" charset="-122"/>
                <a:cs typeface="Calibri" pitchFamily="34" charset="-120"/>
              </a:rPr>
              <a:t>Lead time check: if delivery &lt; lead time days, trigger URGENT flag automatically</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685800"/>
          </a:xfrm>
          <a:prstGeom prst="rect">
            <a:avLst/>
          </a:prstGeom>
          <a:solidFill>
            <a:srgbClr val="1A56C4"/>
          </a:solidFill>
          <a:ln w="12700">
            <a:solidFill>
              <a:srgbClr val="1A56C4"/>
            </a:solidFill>
            <a:prstDash val="solid"/>
          </a:ln>
        </p:spPr>
      </p:sp>
      <p:sp>
        <p:nvSpPr>
          <p:cNvPr id="3" name="Text 1"/>
          <p:cNvSpPr/>
          <p:nvPr/>
        </p:nvSpPr>
        <p:spPr>
          <a:xfrm>
            <a:off x="475488" y="201168"/>
            <a:ext cx="11338560" cy="411480"/>
          </a:xfrm>
          <a:prstGeom prst="rect">
            <a:avLst/>
          </a:prstGeom>
          <a:noFill/>
          <a:ln/>
        </p:spPr>
        <p:txBody>
          <a:bodyPr wrap="square" lIns="0" tIns="0" rIns="0" bIns="0" rtlCol="0" anchor="ctr"/>
          <a:lstStyle/>
          <a:p>
            <a:pPr marL="0" indent="0">
              <a:buNone/>
            </a:pPr>
            <a:r>
              <a:rPr lang="en-US" sz="2200" b="1" dirty="0">
                <a:solidFill>
                  <a:srgbClr val="0D1B3E"/>
                </a:solidFill>
                <a:latin typeface="Trebuchet MS" pitchFamily="34" charset="0"/>
                <a:ea typeface="Trebuchet MS" pitchFamily="34" charset="-122"/>
                <a:cs typeface="Trebuchet MS" pitchFamily="34" charset="-120"/>
              </a:rPr>
              <a:t>Master Data — The Single Most Critical Prerequisite</a:t>
            </a:r>
            <a:endParaRPr lang="en-US" sz="2200" dirty="0"/>
          </a:p>
        </p:txBody>
      </p:sp>
      <p:sp>
        <p:nvSpPr>
          <p:cNvPr id="4" name="Text 2"/>
          <p:cNvSpPr/>
          <p:nvPr/>
        </p:nvSpPr>
        <p:spPr>
          <a:xfrm>
            <a:off x="475488" y="566928"/>
            <a:ext cx="113385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The planning engine is only as good as the master data that feeds it</a:t>
            </a:r>
            <a:endParaRPr lang="en-US" sz="1200" dirty="0"/>
          </a:p>
        </p:txBody>
      </p:sp>
      <p:sp>
        <p:nvSpPr>
          <p:cNvPr id="5" name="Shape 3"/>
          <p:cNvSpPr/>
          <p:nvPr/>
        </p:nvSpPr>
        <p:spPr>
          <a:xfrm>
            <a:off x="320040" y="960120"/>
            <a:ext cx="11521440" cy="0"/>
          </a:xfrm>
          <a:prstGeom prst="line">
            <a:avLst/>
          </a:prstGeom>
          <a:noFill/>
          <a:ln w="9525">
            <a:solidFill>
              <a:srgbClr val="E2E8F0"/>
            </a:solidFill>
            <a:prstDash val="solid"/>
          </a:ln>
        </p:spPr>
      </p:sp>
      <p:sp>
        <p:nvSpPr>
          <p:cNvPr id="6" name="Shape 4"/>
          <p:cNvSpPr/>
          <p:nvPr/>
        </p:nvSpPr>
        <p:spPr>
          <a:xfrm>
            <a:off x="320040" y="1051560"/>
            <a:ext cx="11521440" cy="548640"/>
          </a:xfrm>
          <a:prstGeom prst="rect">
            <a:avLst/>
          </a:prstGeom>
          <a:solidFill>
            <a:srgbClr val="DC2626"/>
          </a:solidFill>
          <a:ln w="12700">
            <a:solidFill>
              <a:srgbClr val="DC2626"/>
            </a:solidFill>
            <a:prstDash val="solid"/>
          </a:ln>
        </p:spPr>
      </p:sp>
      <p:sp>
        <p:nvSpPr>
          <p:cNvPr id="7" name="Text 5"/>
          <p:cNvSpPr/>
          <p:nvPr/>
        </p:nvSpPr>
        <p:spPr>
          <a:xfrm>
            <a:off x="457200" y="1069848"/>
            <a:ext cx="11247120" cy="502920"/>
          </a:xfrm>
          <a:prstGeom prst="rect">
            <a:avLst/>
          </a:prstGeom>
          <a:noFill/>
          <a:ln/>
        </p:spPr>
        <p:txBody>
          <a:bodyPr wrap="square"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WITHOUT MDM GOVERNANCE, THE PLANNING ENGINE WILL PRODUCE INCORRECT RESULTS — REGARDLESS OF FORECASTING ALGORITHM QUALITY</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664208"/>
          <a:ext cx="10332720" cy="3383280"/>
        </p:xfrm>
        <a:graphic>
          <a:graphicData uri="http://schemas.openxmlformats.org/drawingml/2006/table">
            <a:tbl>
              <a:tblPr/>
              <a:tblGrid>
                <a:gridCol w="20116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338328">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Master Data Entity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Mandatory?</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Used In Module(s)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What Needs to Be Done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Current Status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338328">
                <a:tc>
                  <a:txBody>
                    <a:bodyPr/>
                    <a:lstStyle/>
                    <a:p>
                      <a:pPr marL="0" indent="0">
                        <a:buNone/>
                      </a:pPr>
                      <a:r>
                        <a:rPr lang="en-US" sz="950" b="1" dirty="0">
                          <a:solidFill>
                            <a:srgbClr val="0D1B3E"/>
                          </a:solidFill>
                          <a:latin typeface="Calibri" pitchFamily="34" charset="0"/>
                          <a:ea typeface="Calibri" pitchFamily="34" charset="-122"/>
                          <a:cs typeface="Calibri" pitchFamily="34" charset="-120"/>
                        </a:rPr>
                        <a:t>Product / SKU Master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YES — Critical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475569"/>
                          </a:solidFill>
                          <a:latin typeface="Calibri" pitchFamily="34" charset="0"/>
                          <a:ea typeface="Calibri" pitchFamily="34" charset="-122"/>
                          <a:cs typeface="Calibri" pitchFamily="34" charset="-120"/>
                        </a:rPr>
                        <a:t>Forecasting, Recipe Explosion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Dedup product names, fix SKU codes, standardize variant naming</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C2626"/>
                          </a:solidFill>
                          <a:latin typeface="Calibri" pitchFamily="34" charset="0"/>
                          <a:ea typeface="Calibri" pitchFamily="34" charset="-122"/>
                          <a:cs typeface="Calibri" pitchFamily="34" charset="-120"/>
                        </a:rPr>
                        <a:t>NEEDS WORK</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1"/>
                  </a:ext>
                </a:extLst>
              </a:tr>
              <a:tr h="338328">
                <a:tc>
                  <a:txBody>
                    <a:bodyPr/>
                    <a:lstStyle/>
                    <a:p>
                      <a:pPr marL="0" indent="0">
                        <a:buNone/>
                      </a:pPr>
                      <a:r>
                        <a:rPr lang="en-US" sz="950" b="1" dirty="0">
                          <a:solidFill>
                            <a:srgbClr val="0D1B3E"/>
                          </a:solidFill>
                          <a:latin typeface="Calibri" pitchFamily="34" charset="0"/>
                          <a:ea typeface="Calibri" pitchFamily="34" charset="-122"/>
                          <a:cs typeface="Calibri" pitchFamily="34" charset="-120"/>
                        </a:rPr>
                        <a:t>Recipe Master (RM + PM)</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YES — Critical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475569"/>
                          </a:solidFill>
                          <a:latin typeface="Calibri" pitchFamily="34" charset="0"/>
                          <a:ea typeface="Calibri" pitchFamily="34" charset="-122"/>
                          <a:cs typeface="Calibri" pitchFamily="34" charset="-120"/>
                        </a:rPr>
                        <a:t>Recipe Explosion, Procurement</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Validate every recipe per outlet, ingredient qty, packaging qty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b="1" dirty="0">
                          <a:solidFill>
                            <a:srgbClr val="DC2626"/>
                          </a:solidFill>
                          <a:latin typeface="Calibri" pitchFamily="34" charset="0"/>
                          <a:ea typeface="Calibri" pitchFamily="34" charset="-122"/>
                          <a:cs typeface="Calibri" pitchFamily="34" charset="-120"/>
                        </a:rPr>
                        <a:t>CRITICAL GAP</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2"/>
                  </a:ext>
                </a:extLst>
              </a:tr>
              <a:tr h="338328">
                <a:tc>
                  <a:txBody>
                    <a:bodyPr/>
                    <a:lstStyle/>
                    <a:p>
                      <a:pPr marL="0" indent="0">
                        <a:buNone/>
                      </a:pPr>
                      <a:r>
                        <a:rPr lang="en-US" sz="950" b="1" dirty="0">
                          <a:solidFill>
                            <a:srgbClr val="0D1B3E"/>
                          </a:solidFill>
                          <a:latin typeface="Calibri" pitchFamily="34" charset="0"/>
                          <a:ea typeface="Calibri" pitchFamily="34" charset="-122"/>
                          <a:cs typeface="Calibri" pitchFamily="34" charset="-120"/>
                        </a:rPr>
                        <a:t>RM &amp; PM Material Master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YES — Critical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475569"/>
                          </a:solidFill>
                          <a:latin typeface="Calibri" pitchFamily="34" charset="0"/>
                          <a:ea typeface="Calibri" pitchFamily="34" charset="-122"/>
                          <a:cs typeface="Calibri" pitchFamily="34" charset="-120"/>
                        </a:rPr>
                        <a:t>Procurement Engine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Define all RMs/PMs, standard UOM, supplier mapping, lead time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EA580C"/>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3"/>
                  </a:ext>
                </a:extLst>
              </a:tr>
              <a:tr h="338328">
                <a:tc>
                  <a:txBody>
                    <a:bodyPr/>
                    <a:lstStyle/>
                    <a:p>
                      <a:pPr marL="0" indent="0">
                        <a:buNone/>
                      </a:pPr>
                      <a:r>
                        <a:rPr lang="en-US" sz="950" b="1" dirty="0">
                          <a:solidFill>
                            <a:srgbClr val="0D1B3E"/>
                          </a:solidFill>
                          <a:latin typeface="Calibri" pitchFamily="34" charset="0"/>
                          <a:ea typeface="Calibri" pitchFamily="34" charset="-122"/>
                          <a:cs typeface="Calibri" pitchFamily="34" charset="-120"/>
                        </a:rPr>
                        <a:t>Brand Hierarchy</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EA580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475569"/>
                          </a:solidFill>
                          <a:latin typeface="Calibri" pitchFamily="34" charset="0"/>
                          <a:ea typeface="Calibri" pitchFamily="34" charset="-122"/>
                          <a:cs typeface="Calibri" pitchFamily="34" charset="-120"/>
                        </a:rPr>
                        <a:t>Forecasting, Reporting</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Brand → Sub-brand → Category → SKU hierarchy must be locked</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b="1" dirty="0">
                          <a:solidFill>
                            <a:srgbClr val="EA580C"/>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4"/>
                  </a:ext>
                </a:extLst>
              </a:tr>
              <a:tr h="338328">
                <a:tc>
                  <a:txBody>
                    <a:bodyPr/>
                    <a:lstStyle/>
                    <a:p>
                      <a:pPr marL="0" indent="0">
                        <a:buNone/>
                      </a:pPr>
                      <a:r>
                        <a:rPr lang="en-US" sz="950" b="1" dirty="0">
                          <a:solidFill>
                            <a:srgbClr val="0D1B3E"/>
                          </a:solidFill>
                          <a:latin typeface="Calibri" pitchFamily="34" charset="0"/>
                          <a:ea typeface="Calibri" pitchFamily="34" charset="-122"/>
                          <a:cs typeface="Calibri" pitchFamily="34" charset="-120"/>
                        </a:rPr>
                        <a:t>Location &amp; Store Mapping</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EA580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475569"/>
                          </a:solidFill>
                          <a:latin typeface="Calibri" pitchFamily="34" charset="0"/>
                          <a:ea typeface="Calibri" pitchFamily="34" charset="-122"/>
                          <a:cs typeface="Calibri" pitchFamily="34" charset="-120"/>
                        </a:rPr>
                        <a:t>Supply Planning, Routing</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Warehouse → Kitchen → Outlet → Brand mapping must be complete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EA580C"/>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5"/>
                  </a:ext>
                </a:extLst>
              </a:tr>
              <a:tr h="338328">
                <a:tc>
                  <a:txBody>
                    <a:bodyPr/>
                    <a:lstStyle/>
                    <a:p>
                      <a:pPr marL="0" indent="0">
                        <a:buNone/>
                      </a:pPr>
                      <a:r>
                        <a:rPr lang="en-US" sz="950" b="1" dirty="0">
                          <a:solidFill>
                            <a:srgbClr val="0D1B3E"/>
                          </a:solidFill>
                          <a:latin typeface="Calibri" pitchFamily="34" charset="0"/>
                          <a:ea typeface="Calibri" pitchFamily="34" charset="-122"/>
                          <a:cs typeface="Calibri" pitchFamily="34" charset="-120"/>
                        </a:rPr>
                        <a:t>Vendor / Supplier Master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YES — Critical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475569"/>
                          </a:solidFill>
                          <a:latin typeface="Calibri" pitchFamily="34" charset="0"/>
                          <a:ea typeface="Calibri" pitchFamily="34" charset="-122"/>
                          <a:cs typeface="Calibri" pitchFamily="34" charset="-120"/>
                        </a:rPr>
                        <a:t>Procurement Engine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Vendor name, lead time, MOQ, payment terms, category mapping</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b="1" dirty="0">
                          <a:solidFill>
                            <a:srgbClr val="DC2626"/>
                          </a:solidFill>
                          <a:latin typeface="Calibri" pitchFamily="34" charset="0"/>
                          <a:ea typeface="Calibri" pitchFamily="34" charset="-122"/>
                          <a:cs typeface="Calibri" pitchFamily="34" charset="-120"/>
                        </a:rPr>
                        <a:t>MISSING</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6"/>
                  </a:ext>
                </a:extLst>
              </a:tr>
              <a:tr h="338328">
                <a:tc>
                  <a:txBody>
                    <a:bodyPr/>
                    <a:lstStyle/>
                    <a:p>
                      <a:pPr marL="0" indent="0">
                        <a:buNone/>
                      </a:pPr>
                      <a:r>
                        <a:rPr lang="en-US" sz="950" b="1" dirty="0">
                          <a:solidFill>
                            <a:srgbClr val="0D1B3E"/>
                          </a:solidFill>
                          <a:latin typeface="Calibri" pitchFamily="34" charset="0"/>
                          <a:ea typeface="Calibri" pitchFamily="34" charset="-122"/>
                          <a:cs typeface="Calibri" pitchFamily="34" charset="-120"/>
                        </a:rPr>
                        <a:t>UOM Standardization</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YES — Critical</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475569"/>
                          </a:solidFill>
                          <a:latin typeface="Calibri" pitchFamily="34" charset="0"/>
                          <a:ea typeface="Calibri" pitchFamily="34" charset="-122"/>
                          <a:cs typeface="Calibri" pitchFamily="34" charset="-120"/>
                        </a:rPr>
                        <a:t>Entire Engine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All quantities in single UOM per category (e.g., all weight in gm)</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DC2626"/>
                          </a:solidFill>
                          <a:latin typeface="Calibri" pitchFamily="34" charset="0"/>
                          <a:ea typeface="Calibri" pitchFamily="34" charset="-122"/>
                          <a:cs typeface="Calibri" pitchFamily="34" charset="-120"/>
                        </a:rPr>
                        <a:t>CRITICAL GAP</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7"/>
                  </a:ext>
                </a:extLst>
              </a:tr>
              <a:tr h="338328">
                <a:tc>
                  <a:txBody>
                    <a:bodyPr/>
                    <a:lstStyle/>
                    <a:p>
                      <a:pPr marL="0" indent="0">
                        <a:buNone/>
                      </a:pPr>
                      <a:r>
                        <a:rPr lang="en-US" sz="950" b="1" dirty="0">
                          <a:solidFill>
                            <a:srgbClr val="0D1B3E"/>
                          </a:solidFill>
                          <a:latin typeface="Calibri" pitchFamily="34" charset="0"/>
                          <a:ea typeface="Calibri" pitchFamily="34" charset="-122"/>
                          <a:cs typeface="Calibri" pitchFamily="34" charset="-120"/>
                        </a:rPr>
                        <a:t>Safety Stock Policy</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900" b="1" dirty="0">
                          <a:solidFill>
                            <a:srgbClr val="EA580C"/>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475569"/>
                          </a:solidFill>
                          <a:latin typeface="Calibri" pitchFamily="34" charset="0"/>
                          <a:ea typeface="Calibri" pitchFamily="34" charset="-122"/>
                          <a:cs typeface="Calibri" pitchFamily="34" charset="-120"/>
                        </a:rPr>
                        <a:t>Supply + Procurement</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Min. coverage days per SKU/category defined by planning team</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b="1" dirty="0">
                          <a:solidFill>
                            <a:srgbClr val="DC2626"/>
                          </a:solidFill>
                          <a:latin typeface="Calibri" pitchFamily="34" charset="0"/>
                          <a:ea typeface="Calibri" pitchFamily="34" charset="-122"/>
                          <a:cs typeface="Calibri" pitchFamily="34" charset="-120"/>
                        </a:rPr>
                        <a:t>NOT DEFINED</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8"/>
                  </a:ext>
                </a:extLst>
              </a:tr>
              <a:tr h="338328">
                <a:tc>
                  <a:txBody>
                    <a:bodyPr/>
                    <a:lstStyle/>
                    <a:p>
                      <a:pPr marL="0" indent="0">
                        <a:buNone/>
                      </a:pPr>
                      <a:r>
                        <a:rPr lang="en-US" sz="950" b="1" dirty="0">
                          <a:solidFill>
                            <a:srgbClr val="0D1B3E"/>
                          </a:solidFill>
                          <a:latin typeface="Calibri" pitchFamily="34" charset="0"/>
                          <a:ea typeface="Calibri" pitchFamily="34" charset="-122"/>
                          <a:cs typeface="Calibri" pitchFamily="34" charset="-120"/>
                        </a:rPr>
                        <a:t>Festival / Event Calendar</a:t>
                      </a:r>
                      <a:endParaRPr lang="en-US" sz="9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EA580C"/>
                          </a:solidFill>
                          <a:latin typeface="Calibri" pitchFamily="34" charset="0"/>
                          <a:ea typeface="Calibri" pitchFamily="34" charset="-122"/>
                          <a:cs typeface="Calibri" pitchFamily="34" charset="-120"/>
                        </a:rPr>
                        <a:t>Recommended</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475569"/>
                          </a:solidFill>
                          <a:latin typeface="Calibri" pitchFamily="34" charset="0"/>
                          <a:ea typeface="Calibri" pitchFamily="34" charset="-122"/>
                          <a:cs typeface="Calibri" pitchFamily="34" charset="-120"/>
                        </a:rPr>
                        <a:t>Forecasting Engine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Major holidays, brand promotions, city-level festival impact dates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EA580C"/>
                          </a:solidFill>
                          <a:latin typeface="Calibri" pitchFamily="34" charset="0"/>
                          <a:ea typeface="Calibri" pitchFamily="34" charset="-122"/>
                          <a:cs typeface="Calibri" pitchFamily="34" charset="-120"/>
                        </a:rPr>
                        <a:t>MISSING</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BEB"/>
                    </a:solidFill>
                  </a:tcPr>
                </a:tc>
                <a:extLst>
                  <a:ext uri="{0D108BD9-81ED-4DB2-BD59-A6C34878D82A}">
                    <a16:rowId xmlns:a16="http://schemas.microsoft.com/office/drawing/2014/main" val="10009"/>
                  </a:ext>
                </a:extLst>
              </a:tr>
            </a:tbl>
          </a:graphicData>
        </a:graphic>
      </p:graphicFrame>
      <p:sp>
        <p:nvSpPr>
          <p:cNvPr id="9" name="Shape 6"/>
          <p:cNvSpPr/>
          <p:nvPr/>
        </p:nvSpPr>
        <p:spPr>
          <a:xfrm>
            <a:off x="320040" y="6199632"/>
            <a:ext cx="11521440" cy="411480"/>
          </a:xfrm>
          <a:prstGeom prst="rect">
            <a:avLst/>
          </a:prstGeom>
          <a:solidFill>
            <a:srgbClr val="FFFBEB"/>
          </a:solidFill>
          <a:ln w="12700">
            <a:solidFill>
              <a:srgbClr val="D97706"/>
            </a:solidFill>
            <a:prstDash val="solid"/>
          </a:ln>
        </p:spPr>
      </p:sp>
      <p:sp>
        <p:nvSpPr>
          <p:cNvPr id="10" name="Text 7"/>
          <p:cNvSpPr/>
          <p:nvPr/>
        </p:nvSpPr>
        <p:spPr>
          <a:xfrm>
            <a:off x="457200" y="6217920"/>
            <a:ext cx="11247120" cy="365760"/>
          </a:xfrm>
          <a:prstGeom prst="rect">
            <a:avLst/>
          </a:prstGeom>
          <a:noFill/>
          <a:ln/>
        </p:spPr>
        <p:txBody>
          <a:bodyPr wrap="square" rtlCol="0" anchor="ctr"/>
          <a:lstStyle/>
          <a:p>
            <a:pPr marL="0" indent="0">
              <a:buNone/>
            </a:pPr>
            <a:r>
              <a:rPr lang="en-US" sz="900" dirty="0">
                <a:solidFill>
                  <a:srgbClr val="D97706"/>
                </a:solidFill>
                <a:latin typeface="Calibri" pitchFamily="34" charset="0"/>
                <a:ea typeface="Calibri" pitchFamily="34" charset="-122"/>
                <a:cs typeface="Calibri" pitchFamily="34" charset="-120"/>
              </a:rPr>
              <a:t>⏱  Estimated MDM Remediation Effort: 4–6 weeks with dedicated data steward + culinary team validation + procurement team inputs. This is non-negotiable and must precede any engine development.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685800"/>
          </a:xfrm>
          <a:prstGeom prst="rect">
            <a:avLst/>
          </a:prstGeom>
          <a:solidFill>
            <a:srgbClr val="1A56C4"/>
          </a:solidFill>
          <a:ln w="12700">
            <a:solidFill>
              <a:srgbClr val="1A56C4"/>
            </a:solidFill>
            <a:prstDash val="solid"/>
          </a:ln>
        </p:spPr>
      </p:sp>
      <p:sp>
        <p:nvSpPr>
          <p:cNvPr id="3" name="Text 1"/>
          <p:cNvSpPr/>
          <p:nvPr/>
        </p:nvSpPr>
        <p:spPr>
          <a:xfrm>
            <a:off x="475488" y="201168"/>
            <a:ext cx="11338560" cy="411480"/>
          </a:xfrm>
          <a:prstGeom prst="rect">
            <a:avLst/>
          </a:prstGeom>
          <a:noFill/>
          <a:ln/>
        </p:spPr>
        <p:txBody>
          <a:bodyPr wrap="square" lIns="0" tIns="0" rIns="0" bIns="0" rtlCol="0" anchor="ctr"/>
          <a:lstStyle/>
          <a:p>
            <a:pPr marL="0" indent="0">
              <a:buNone/>
            </a:pPr>
            <a:r>
              <a:rPr lang="en-US" sz="2200" b="1" dirty="0">
                <a:solidFill>
                  <a:srgbClr val="0D1B3E"/>
                </a:solidFill>
                <a:latin typeface="Trebuchet MS" pitchFamily="34" charset="0"/>
                <a:ea typeface="Trebuchet MS" pitchFamily="34" charset="-122"/>
                <a:cs typeface="Trebuchet MS" pitchFamily="34" charset="-120"/>
              </a:rPr>
              <a:t>Realistic Implementation Roadmap</a:t>
            </a:r>
            <a:endParaRPr lang="en-US" sz="2200" dirty="0"/>
          </a:p>
        </p:txBody>
      </p:sp>
      <p:sp>
        <p:nvSpPr>
          <p:cNvPr id="4" name="Text 2"/>
          <p:cNvSpPr/>
          <p:nvPr/>
        </p:nvSpPr>
        <p:spPr>
          <a:xfrm>
            <a:off x="475488" y="566928"/>
            <a:ext cx="113385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Phased delivery — data readiness is the critical path</a:t>
            </a:r>
            <a:endParaRPr lang="en-US" sz="1200" dirty="0"/>
          </a:p>
        </p:txBody>
      </p:sp>
      <p:sp>
        <p:nvSpPr>
          <p:cNvPr id="5" name="Shape 3"/>
          <p:cNvSpPr/>
          <p:nvPr/>
        </p:nvSpPr>
        <p:spPr>
          <a:xfrm>
            <a:off x="320040" y="960120"/>
            <a:ext cx="11521440" cy="0"/>
          </a:xfrm>
          <a:prstGeom prst="line">
            <a:avLst/>
          </a:prstGeom>
          <a:noFill/>
          <a:ln w="9525">
            <a:solidFill>
              <a:srgbClr val="E2E8F0"/>
            </a:solidFill>
            <a:prstDash val="solid"/>
          </a:ln>
        </p:spPr>
      </p:sp>
      <p:sp>
        <p:nvSpPr>
          <p:cNvPr id="6" name="Shape 4"/>
          <p:cNvSpPr/>
          <p:nvPr/>
        </p:nvSpPr>
        <p:spPr>
          <a:xfrm>
            <a:off x="320040" y="1051560"/>
            <a:ext cx="3611880" cy="594360"/>
          </a:xfrm>
          <a:prstGeom prst="rect">
            <a:avLst/>
          </a:prstGeom>
          <a:solidFill>
            <a:srgbClr val="0D1B3E"/>
          </a:solidFill>
          <a:ln w="12700">
            <a:solidFill>
              <a:srgbClr val="0D1B3E"/>
            </a:solidFill>
            <a:prstDash val="solid"/>
          </a:ln>
        </p:spPr>
      </p:sp>
      <p:sp>
        <p:nvSpPr>
          <p:cNvPr id="7" name="Text 5"/>
          <p:cNvSpPr/>
          <p:nvPr/>
        </p:nvSpPr>
        <p:spPr>
          <a:xfrm>
            <a:off x="411480" y="1069848"/>
            <a:ext cx="2103120" cy="594360"/>
          </a:xfrm>
          <a:prstGeom prst="rect">
            <a:avLst/>
          </a:prstGeom>
          <a:noFill/>
          <a:ln/>
        </p:spPr>
        <p:txBody>
          <a:bodyPr wrap="square" rtlCol="0" anchor="ctr"/>
          <a:lstStyle/>
          <a:p>
            <a:pPr marL="0" indent="0">
              <a:buNone/>
            </a:pPr>
            <a:r>
              <a:rPr lang="en-US" sz="1000" dirty="0">
                <a:solidFill>
                  <a:srgbClr val="93C5FD"/>
                </a:solidFill>
                <a:latin typeface="Calibri" pitchFamily="34" charset="0"/>
                <a:ea typeface="Calibri" pitchFamily="34" charset="-122"/>
                <a:cs typeface="Calibri" pitchFamily="34" charset="-120"/>
              </a:rPr>
              <a:t>Single Resource</a:t>
            </a:r>
            <a:endParaRPr lang="en-US" sz="1000" dirty="0"/>
          </a:p>
        </p:txBody>
      </p:sp>
      <p:sp>
        <p:nvSpPr>
          <p:cNvPr id="8" name="Text 6"/>
          <p:cNvSpPr/>
          <p:nvPr/>
        </p:nvSpPr>
        <p:spPr>
          <a:xfrm>
            <a:off x="2468880" y="1069848"/>
            <a:ext cx="1371600" cy="594360"/>
          </a:xfrm>
          <a:prstGeom prst="rect">
            <a:avLst/>
          </a:prstGeom>
          <a:noFill/>
          <a:ln/>
        </p:spPr>
        <p:txBody>
          <a:bodyPr wrap="square" rtlCol="0" anchor="ctr"/>
          <a:lstStyle/>
          <a:p>
            <a:pPr marL="0" indent="0" algn="r">
              <a:buNone/>
            </a:pPr>
            <a:r>
              <a:rPr lang="en-US" sz="1600" b="1" dirty="0">
                <a:solidFill>
                  <a:srgbClr val="FFFFFF"/>
                </a:solidFill>
                <a:latin typeface="Trebuchet MS" pitchFamily="34" charset="0"/>
                <a:ea typeface="Trebuchet MS" pitchFamily="34" charset="-122"/>
                <a:cs typeface="Trebuchet MS" pitchFamily="34" charset="-120"/>
              </a:rPr>
              <a:t>5–6 Months</a:t>
            </a:r>
            <a:endParaRPr lang="en-US" sz="1600" dirty="0"/>
          </a:p>
        </p:txBody>
      </p:sp>
      <p:sp>
        <p:nvSpPr>
          <p:cNvPr id="9" name="Shape 7"/>
          <p:cNvSpPr/>
          <p:nvPr/>
        </p:nvSpPr>
        <p:spPr>
          <a:xfrm>
            <a:off x="4114800" y="1051560"/>
            <a:ext cx="3611880" cy="594360"/>
          </a:xfrm>
          <a:prstGeom prst="rect">
            <a:avLst/>
          </a:prstGeom>
          <a:solidFill>
            <a:srgbClr val="0D1B3E"/>
          </a:solidFill>
          <a:ln w="12700">
            <a:solidFill>
              <a:srgbClr val="0D1B3E"/>
            </a:solidFill>
            <a:prstDash val="solid"/>
          </a:ln>
        </p:spPr>
      </p:sp>
      <p:sp>
        <p:nvSpPr>
          <p:cNvPr id="10" name="Text 8"/>
          <p:cNvSpPr/>
          <p:nvPr/>
        </p:nvSpPr>
        <p:spPr>
          <a:xfrm>
            <a:off x="4206240" y="1069848"/>
            <a:ext cx="2103120" cy="594360"/>
          </a:xfrm>
          <a:prstGeom prst="rect">
            <a:avLst/>
          </a:prstGeom>
          <a:noFill/>
          <a:ln/>
        </p:spPr>
        <p:txBody>
          <a:bodyPr wrap="square" rtlCol="0" anchor="ctr"/>
          <a:lstStyle/>
          <a:p>
            <a:pPr marL="0" indent="0">
              <a:buNone/>
            </a:pPr>
            <a:r>
              <a:rPr lang="en-US" sz="1000" dirty="0">
                <a:solidFill>
                  <a:srgbClr val="93C5FD"/>
                </a:solidFill>
                <a:latin typeface="Calibri" pitchFamily="34" charset="0"/>
                <a:ea typeface="Calibri" pitchFamily="34" charset="-122"/>
                <a:cs typeface="Calibri" pitchFamily="34" charset="-120"/>
              </a:rPr>
              <a:t>Small Team (2–3)</a:t>
            </a:r>
            <a:endParaRPr lang="en-US" sz="1000" dirty="0"/>
          </a:p>
        </p:txBody>
      </p:sp>
      <p:sp>
        <p:nvSpPr>
          <p:cNvPr id="11" name="Text 9"/>
          <p:cNvSpPr/>
          <p:nvPr/>
        </p:nvSpPr>
        <p:spPr>
          <a:xfrm>
            <a:off x="6263640" y="1069848"/>
            <a:ext cx="1371600" cy="594360"/>
          </a:xfrm>
          <a:prstGeom prst="rect">
            <a:avLst/>
          </a:prstGeom>
          <a:noFill/>
          <a:ln/>
        </p:spPr>
        <p:txBody>
          <a:bodyPr wrap="square" rtlCol="0" anchor="ctr"/>
          <a:lstStyle/>
          <a:p>
            <a:pPr marL="0" indent="0" algn="r">
              <a:buNone/>
            </a:pPr>
            <a:r>
              <a:rPr lang="en-US" sz="1600" b="1" dirty="0">
                <a:solidFill>
                  <a:srgbClr val="FFFFFF"/>
                </a:solidFill>
                <a:latin typeface="Trebuchet MS" pitchFamily="34" charset="0"/>
                <a:ea typeface="Trebuchet MS" pitchFamily="34" charset="-122"/>
                <a:cs typeface="Trebuchet MS" pitchFamily="34" charset="-120"/>
              </a:rPr>
              <a:t>3–4 Months</a:t>
            </a:r>
            <a:endParaRPr lang="en-US" sz="1600" dirty="0"/>
          </a:p>
        </p:txBody>
      </p:sp>
      <p:sp>
        <p:nvSpPr>
          <p:cNvPr id="12" name="Shape 10"/>
          <p:cNvSpPr/>
          <p:nvPr/>
        </p:nvSpPr>
        <p:spPr>
          <a:xfrm>
            <a:off x="7909560" y="1051560"/>
            <a:ext cx="3611880" cy="594360"/>
          </a:xfrm>
          <a:prstGeom prst="rect">
            <a:avLst/>
          </a:prstGeom>
          <a:solidFill>
            <a:srgbClr val="0D1B3E"/>
          </a:solidFill>
          <a:ln w="12700">
            <a:solidFill>
              <a:srgbClr val="0D1B3E"/>
            </a:solidFill>
            <a:prstDash val="solid"/>
          </a:ln>
        </p:spPr>
      </p:sp>
      <p:sp>
        <p:nvSpPr>
          <p:cNvPr id="13" name="Text 11"/>
          <p:cNvSpPr/>
          <p:nvPr/>
        </p:nvSpPr>
        <p:spPr>
          <a:xfrm>
            <a:off x="8001000" y="1069848"/>
            <a:ext cx="2103120" cy="594360"/>
          </a:xfrm>
          <a:prstGeom prst="rect">
            <a:avLst/>
          </a:prstGeom>
          <a:noFill/>
          <a:ln/>
        </p:spPr>
        <p:txBody>
          <a:bodyPr wrap="square" rtlCol="0" anchor="ctr"/>
          <a:lstStyle/>
          <a:p>
            <a:pPr marL="0" indent="0">
              <a:buNone/>
            </a:pPr>
            <a:r>
              <a:rPr lang="en-US" sz="1000" dirty="0">
                <a:solidFill>
                  <a:srgbClr val="93C5FD"/>
                </a:solidFill>
                <a:latin typeface="Calibri" pitchFamily="34" charset="0"/>
                <a:ea typeface="Calibri" pitchFamily="34" charset="-122"/>
                <a:cs typeface="Calibri" pitchFamily="34" charset="-120"/>
              </a:rPr>
              <a:t>Dedicated Product Team</a:t>
            </a:r>
            <a:endParaRPr lang="en-US" sz="1000" dirty="0"/>
          </a:p>
        </p:txBody>
      </p:sp>
      <p:sp>
        <p:nvSpPr>
          <p:cNvPr id="14" name="Text 12"/>
          <p:cNvSpPr/>
          <p:nvPr/>
        </p:nvSpPr>
        <p:spPr>
          <a:xfrm>
            <a:off x="10058400" y="1069848"/>
            <a:ext cx="1371600" cy="594360"/>
          </a:xfrm>
          <a:prstGeom prst="rect">
            <a:avLst/>
          </a:prstGeom>
          <a:noFill/>
          <a:ln/>
        </p:spPr>
        <p:txBody>
          <a:bodyPr wrap="square" rtlCol="0" anchor="ctr"/>
          <a:lstStyle/>
          <a:p>
            <a:pPr marL="0" indent="0" algn="r">
              <a:buNone/>
            </a:pPr>
            <a:r>
              <a:rPr lang="en-US" sz="1600" b="1" dirty="0">
                <a:solidFill>
                  <a:srgbClr val="FFFFFF"/>
                </a:solidFill>
                <a:latin typeface="Trebuchet MS" pitchFamily="34" charset="0"/>
                <a:ea typeface="Trebuchet MS" pitchFamily="34" charset="-122"/>
                <a:cs typeface="Trebuchet MS" pitchFamily="34" charset="-120"/>
              </a:rPr>
              <a:t>2–3 Months</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719072"/>
          <a:ext cx="11128248" cy="4818888"/>
        </p:xfrm>
        <a:graphic>
          <a:graphicData uri="http://schemas.openxmlformats.org/drawingml/2006/table">
            <a:tbl>
              <a:tblPr/>
              <a:tblGrid>
                <a:gridCol w="749808">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3931920">
                  <a:extLst>
                    <a:ext uri="{9D8B030D-6E8A-4147-A177-3AD203B41FA5}">
                      <a16:colId xmlns:a16="http://schemas.microsoft.com/office/drawing/2014/main" val="20003"/>
                    </a:ext>
                  </a:extLst>
                </a:gridCol>
                <a:gridCol w="320040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tblGrid>
              <a:tr h="658368">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Duration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Key Activities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Outcome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658368">
                <a:tc>
                  <a:txBody>
                    <a:bodyPr/>
                    <a:lstStyle/>
                    <a:p>
                      <a:pPr marL="0" indent="0" algn="ctr">
                        <a:buNone/>
                      </a:pPr>
                      <a:r>
                        <a:rPr lang="en-US" sz="1000" b="1" dirty="0">
                          <a:solidFill>
                            <a:srgbClr val="DC2626"/>
                          </a:solidFill>
                          <a:latin typeface="Calibri" pitchFamily="34" charset="0"/>
                          <a:ea typeface="Calibri" pitchFamily="34" charset="-122"/>
                          <a:cs typeface="Calibri" pitchFamily="34" charset="-120"/>
                        </a:rPr>
                        <a:t>Phase 0</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000" b="1" dirty="0">
                          <a:solidFill>
                            <a:srgbClr val="DC2626"/>
                          </a:solidFill>
                          <a:latin typeface="Calibri" pitchFamily="34" charset="0"/>
                          <a:ea typeface="Calibri" pitchFamily="34" charset="-122"/>
                          <a:cs typeface="Calibri" pitchFamily="34" charset="-120"/>
                        </a:rPr>
                        <a:t>Data Readiness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lgn="ctr">
                        <a:buNone/>
                      </a:pPr>
                      <a:r>
                        <a:rPr lang="en-US" sz="1000" b="1" dirty="0">
                          <a:solidFill>
                            <a:srgbClr val="DC2626"/>
                          </a:solidFill>
                          <a:latin typeface="Calibri" pitchFamily="34" charset="0"/>
                          <a:ea typeface="Calibri" pitchFamily="34" charset="-122"/>
                          <a:cs typeface="Calibri" pitchFamily="34" charset="-120"/>
                        </a:rPr>
                        <a:t>4–6 Weeks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Sales Data Validation &amp; Cleansing (2W)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Product / SKU Master Cleanup (2W)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Recipe Master Validation with Culinary Team (3W)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Inventory &amp; Warehouse Data Validation (2W)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Vendor Master &amp; Lead Time Data (1W)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UOM Standardization Across All Systems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i="1" dirty="0">
                          <a:solidFill>
                            <a:srgbClr val="475569"/>
                          </a:solidFill>
                          <a:latin typeface="Calibri" pitchFamily="34" charset="0"/>
                          <a:ea typeface="Calibri" pitchFamily="34" charset="-122"/>
                          <a:cs typeface="Calibri" pitchFamily="34" charset="-120"/>
                        </a:rPr>
                        <a:t>⚠ CRITICAL PATH — Nothing else can start until this is done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DC2626"/>
                          </a:solidFill>
                          <a:latin typeface="Calibri" pitchFamily="34" charset="0"/>
                          <a:ea typeface="Calibri" pitchFamily="34" charset="-122"/>
                          <a:cs typeface="Calibri" pitchFamily="34" charset="-120"/>
                        </a:rPr>
                        <a:t>HIGH</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1"/>
                  </a:ext>
                </a:extLst>
              </a:tr>
              <a:tr h="658368">
                <a:tc>
                  <a:txBody>
                    <a:bodyPr/>
                    <a:lstStyle/>
                    <a:p>
                      <a:pPr marL="0" indent="0" algn="ctr">
                        <a:buNone/>
                      </a:pPr>
                      <a:r>
                        <a:rPr lang="en-US" sz="1000" b="1" dirty="0">
                          <a:solidFill>
                            <a:srgbClr val="EA580C"/>
                          </a:solidFill>
                          <a:latin typeface="Calibri" pitchFamily="34" charset="0"/>
                          <a:ea typeface="Calibri" pitchFamily="34" charset="-122"/>
                          <a:cs typeface="Calibri" pitchFamily="34" charset="-120"/>
                        </a:rPr>
                        <a:t>Phase 1</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marL="0" indent="0">
                        <a:buNone/>
                      </a:pPr>
                      <a:r>
                        <a:rPr lang="en-US" sz="1000" b="1" dirty="0">
                          <a:solidFill>
                            <a:srgbClr val="EA580C"/>
                          </a:solidFill>
                          <a:latin typeface="Calibri" pitchFamily="34" charset="0"/>
                          <a:ea typeface="Calibri" pitchFamily="34" charset="-122"/>
                          <a:cs typeface="Calibri" pitchFamily="34" charset="-120"/>
                        </a:rPr>
                        <a:t>Foundation &amp; Integration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marL="0" indent="0" algn="ctr">
                        <a:buNone/>
                      </a:pPr>
                      <a:r>
                        <a:rPr lang="en-US" sz="1000" b="1" dirty="0">
                          <a:solidFill>
                            <a:srgbClr val="EA580C"/>
                          </a:solidFill>
                          <a:latin typeface="Calibri" pitchFamily="34" charset="0"/>
                          <a:ea typeface="Calibri" pitchFamily="34" charset="-122"/>
                          <a:cs typeface="Calibri" pitchFamily="34" charset="-120"/>
                        </a:rPr>
                        <a:t>4–6 Weeks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Metabase → Data Warehouse Integration (1W)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SupplyNote → Data Warehouse Integration (1W)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MDM Layer Setup &amp; Hierarchy Locking (2W)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Data Pipeline &amp; Automation (2W)</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i="1" dirty="0">
                          <a:solidFill>
                            <a:srgbClr val="475569"/>
                          </a:solidFill>
                          <a:latin typeface="Calibri" pitchFamily="34" charset="0"/>
                          <a:ea typeface="Calibri" pitchFamily="34" charset="-122"/>
                          <a:cs typeface="Calibri" pitchFamily="34" charset="-120"/>
                        </a:rPr>
                        <a:t>Outcome: Clean, automated data flow from source systems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EA580C"/>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extLst>
                  <a:ext uri="{0D108BD9-81ED-4DB2-BD59-A6C34878D82A}">
                    <a16:rowId xmlns:a16="http://schemas.microsoft.com/office/drawing/2014/main" val="10002"/>
                  </a:ext>
                </a:extLst>
              </a:tr>
              <a:tr h="658368">
                <a:tc>
                  <a:txBody>
                    <a:bodyPr/>
                    <a:lstStyle/>
                    <a:p>
                      <a:pPr marL="0" indent="0" algn="ctr">
                        <a:buNone/>
                      </a:pPr>
                      <a:r>
                        <a:rPr lang="en-US" sz="1000" b="1" dirty="0">
                          <a:solidFill>
                            <a:srgbClr val="1A56C4"/>
                          </a:solidFill>
                          <a:latin typeface="Calibri" pitchFamily="34" charset="0"/>
                          <a:ea typeface="Calibri" pitchFamily="34" charset="-122"/>
                          <a:cs typeface="Calibri" pitchFamily="34" charset="-120"/>
                        </a:rPr>
                        <a:t>Phase 2</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marL="0" indent="0">
                        <a:buNone/>
                      </a:pPr>
                      <a:r>
                        <a:rPr lang="en-US" sz="1000" b="1" dirty="0">
                          <a:solidFill>
                            <a:srgbClr val="1A56C4"/>
                          </a:solidFill>
                          <a:latin typeface="Calibri" pitchFamily="34" charset="0"/>
                          <a:ea typeface="Calibri" pitchFamily="34" charset="-122"/>
                          <a:cs typeface="Calibri" pitchFamily="34" charset="-120"/>
                        </a:rPr>
                        <a:t>Forecasting Engine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marL="0" indent="0" algn="ctr">
                        <a:buNone/>
                      </a:pPr>
                      <a:r>
                        <a:rPr lang="en-US" sz="1000" b="1" dirty="0">
                          <a:solidFill>
                            <a:srgbClr val="1A56C4"/>
                          </a:solidFill>
                          <a:latin typeface="Calibri" pitchFamily="34" charset="0"/>
                          <a:ea typeface="Calibri" pitchFamily="34" charset="-122"/>
                          <a:cs typeface="Calibri" pitchFamily="34" charset="-120"/>
                        </a:rPr>
                        <a:t>6 Weeks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0F2FE"/>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Sales Aggregation Logic &amp; Historical Repository (1W)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Forecast Model Development – SKU × Location (3W)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Seasonality, Trend &amp; Growth Factor Integration (1W)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Validation, Tuning &amp; Accuracy Benchmarking (2W)</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i="1" dirty="0">
                          <a:solidFill>
                            <a:srgbClr val="475569"/>
                          </a:solidFill>
                          <a:latin typeface="Calibri" pitchFamily="34" charset="0"/>
                          <a:ea typeface="Calibri" pitchFamily="34" charset="-122"/>
                          <a:cs typeface="Calibri" pitchFamily="34" charset="-120"/>
                        </a:rPr>
                        <a:t>Outcome: 75–80% forecast accuracy at SKU + Location level</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EA580C"/>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extLst>
                  <a:ext uri="{0D108BD9-81ED-4DB2-BD59-A6C34878D82A}">
                    <a16:rowId xmlns:a16="http://schemas.microsoft.com/office/drawing/2014/main" val="10003"/>
                  </a:ext>
                </a:extLst>
              </a:tr>
              <a:tr h="658368">
                <a:tc>
                  <a:txBody>
                    <a:bodyPr/>
                    <a:lstStyle/>
                    <a:p>
                      <a:pPr marL="0" indent="0" algn="ctr">
                        <a:buNone/>
                      </a:pPr>
                      <a:r>
                        <a:rPr lang="en-US" sz="1000" b="1" dirty="0">
                          <a:solidFill>
                            <a:srgbClr val="0EA5E9"/>
                          </a:solidFill>
                          <a:latin typeface="Calibri" pitchFamily="34" charset="0"/>
                          <a:ea typeface="Calibri" pitchFamily="34" charset="-122"/>
                          <a:cs typeface="Calibri" pitchFamily="34" charset="-120"/>
                        </a:rPr>
                        <a:t>Phase 3</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FFAFE"/>
                    </a:solidFill>
                  </a:tcPr>
                </a:tc>
                <a:tc>
                  <a:txBody>
                    <a:bodyPr/>
                    <a:lstStyle/>
                    <a:p>
                      <a:pPr marL="0" indent="0">
                        <a:buNone/>
                      </a:pPr>
                      <a:r>
                        <a:rPr lang="en-US" sz="1000" b="1" dirty="0">
                          <a:solidFill>
                            <a:srgbClr val="0EA5E9"/>
                          </a:solidFill>
                          <a:latin typeface="Calibri" pitchFamily="34" charset="0"/>
                          <a:ea typeface="Calibri" pitchFamily="34" charset="-122"/>
                          <a:cs typeface="Calibri" pitchFamily="34" charset="-120"/>
                        </a:rPr>
                        <a:t>Supply Planning</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FFAFE"/>
                    </a:solidFill>
                  </a:tcPr>
                </a:tc>
                <a:tc>
                  <a:txBody>
                    <a:bodyPr/>
                    <a:lstStyle/>
                    <a:p>
                      <a:pPr marL="0" indent="0" algn="ctr">
                        <a:buNone/>
                      </a:pPr>
                      <a:r>
                        <a:rPr lang="en-US" sz="1000" b="1" dirty="0">
                          <a:solidFill>
                            <a:srgbClr val="0EA5E9"/>
                          </a:solidFill>
                          <a:latin typeface="Calibri" pitchFamily="34" charset="0"/>
                          <a:ea typeface="Calibri" pitchFamily="34" charset="-122"/>
                          <a:cs typeface="Calibri" pitchFamily="34" charset="-120"/>
                        </a:rPr>
                        <a:t>6 Weeks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CFFAFE"/>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Kitchen Inventory Planning Logic (2W)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Recipe Explosion Engine (2W)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Warehouse Planning &amp; Net Requirement Logic (2W)</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i="1" dirty="0">
                          <a:solidFill>
                            <a:srgbClr val="475569"/>
                          </a:solidFill>
                          <a:latin typeface="Calibri" pitchFamily="34" charset="0"/>
                          <a:ea typeface="Calibri" pitchFamily="34" charset="-122"/>
                          <a:cs typeface="Calibri" pitchFamily="34" charset="-120"/>
                        </a:rPr>
                        <a:t>Outcome: Automated replenishment &amp; ingredient demand signals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EA580C"/>
                          </a:solidFill>
                          <a:latin typeface="Calibri" pitchFamily="34" charset="0"/>
                          <a:ea typeface="Calibri" pitchFamily="34" charset="-122"/>
                          <a:cs typeface="Calibri" pitchFamily="34" charset="-120"/>
                        </a:rPr>
                        <a:t>MEDIUM</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7ED"/>
                    </a:solidFill>
                  </a:tcPr>
                </a:tc>
                <a:extLst>
                  <a:ext uri="{0D108BD9-81ED-4DB2-BD59-A6C34878D82A}">
                    <a16:rowId xmlns:a16="http://schemas.microsoft.com/office/drawing/2014/main" val="10004"/>
                  </a:ext>
                </a:extLst>
              </a:tr>
              <a:tr h="658368">
                <a:tc>
                  <a:txBody>
                    <a:bodyPr/>
                    <a:lstStyle/>
                    <a:p>
                      <a:pPr marL="0" indent="0" algn="ctr">
                        <a:buNone/>
                      </a:pPr>
                      <a:r>
                        <a:rPr lang="en-US" sz="1000" b="1" dirty="0">
                          <a:solidFill>
                            <a:srgbClr val="EA580C"/>
                          </a:solidFill>
                          <a:latin typeface="Calibri" pitchFamily="34" charset="0"/>
                          <a:ea typeface="Calibri" pitchFamily="34" charset="-122"/>
                          <a:cs typeface="Calibri" pitchFamily="34" charset="-120"/>
                        </a:rPr>
                        <a:t>Phase 4</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DD5"/>
                    </a:solidFill>
                  </a:tcPr>
                </a:tc>
                <a:tc>
                  <a:txBody>
                    <a:bodyPr/>
                    <a:lstStyle/>
                    <a:p>
                      <a:pPr marL="0" indent="0">
                        <a:buNone/>
                      </a:pPr>
                      <a:r>
                        <a:rPr lang="en-US" sz="1000" b="1" dirty="0">
                          <a:solidFill>
                            <a:srgbClr val="EA580C"/>
                          </a:solidFill>
                          <a:latin typeface="Calibri" pitchFamily="34" charset="0"/>
                          <a:ea typeface="Calibri" pitchFamily="34" charset="-122"/>
                          <a:cs typeface="Calibri" pitchFamily="34" charset="-120"/>
                        </a:rPr>
                        <a:t>Procurement Engine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DD5"/>
                    </a:solidFill>
                  </a:tcPr>
                </a:tc>
                <a:tc>
                  <a:txBody>
                    <a:bodyPr/>
                    <a:lstStyle/>
                    <a:p>
                      <a:pPr marL="0" indent="0" algn="ctr">
                        <a:buNone/>
                      </a:pPr>
                      <a:r>
                        <a:rPr lang="en-US" sz="1000" b="1" dirty="0">
                          <a:solidFill>
                            <a:srgbClr val="EA580C"/>
                          </a:solidFill>
                          <a:latin typeface="Calibri" pitchFamily="34" charset="0"/>
                          <a:ea typeface="Calibri" pitchFamily="34" charset="-122"/>
                          <a:cs typeface="Calibri" pitchFamily="34" charset="-120"/>
                        </a:rPr>
                        <a:t>5 Weeks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DD5"/>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Procurement Recommendation Logic (2W)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Lead Time Planning &amp; PO Integration (1W)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Exception &amp; Urgency Flagging Engine (2W)</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i="1" dirty="0">
                          <a:solidFill>
                            <a:srgbClr val="475569"/>
                          </a:solidFill>
                          <a:latin typeface="Calibri" pitchFamily="34" charset="0"/>
                          <a:ea typeface="Calibri" pitchFamily="34" charset="-122"/>
                          <a:cs typeface="Calibri" pitchFamily="34" charset="-120"/>
                        </a:rPr>
                        <a:t>Outcome: Automated purchase recommendations with supplier-level detail</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6A34A"/>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extLst>
                  <a:ext uri="{0D108BD9-81ED-4DB2-BD59-A6C34878D82A}">
                    <a16:rowId xmlns:a16="http://schemas.microsoft.com/office/drawing/2014/main" val="10005"/>
                  </a:ext>
                </a:extLst>
              </a:tr>
              <a:tr h="658368">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Phase 5</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buNone/>
                      </a:pPr>
                      <a:r>
                        <a:rPr lang="en-US" sz="1000" b="1" dirty="0">
                          <a:solidFill>
                            <a:srgbClr val="16A34A"/>
                          </a:solidFill>
                          <a:latin typeface="Calibri" pitchFamily="34" charset="0"/>
                          <a:ea typeface="Calibri" pitchFamily="34" charset="-122"/>
                          <a:cs typeface="Calibri" pitchFamily="34" charset="-120"/>
                        </a:rPr>
                        <a:t>Dashboard &amp; Alerts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1000" b="1" dirty="0">
                          <a:solidFill>
                            <a:srgbClr val="16A34A"/>
                          </a:solidFill>
                          <a:latin typeface="Calibri" pitchFamily="34" charset="0"/>
                          <a:ea typeface="Calibri" pitchFamily="34" charset="-122"/>
                          <a:cs typeface="Calibri" pitchFamily="34" charset="-120"/>
                        </a:rPr>
                        <a:t>4 Weeks</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buNone/>
                      </a:pPr>
                      <a:r>
                        <a:rPr lang="en-US" sz="850" dirty="0">
                          <a:solidFill>
                            <a:srgbClr val="1E293B"/>
                          </a:solidFill>
                          <a:latin typeface="Calibri" pitchFamily="34" charset="0"/>
                          <a:ea typeface="Calibri" pitchFamily="34" charset="-122"/>
                          <a:cs typeface="Calibri" pitchFamily="34" charset="-120"/>
                        </a:rPr>
                        <a:t>Demand &amp; Forecast Dashboard (2W)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Exception &amp; Alert Engine (1W)</a:t>
                      </a:r>
                      <a:endParaRPr lang="en-US" sz="850" dirty="0">
                        <a:latin typeface="Calibri" charset="0"/>
                        <a:ea typeface="Calibri" charset="0"/>
                        <a:cs typeface="Calibri" charset="0"/>
                      </a:endParaRPr>
                    </a:p>
                    <a:p>
                      <a:pPr marL="0" indent="0">
                        <a:buNone/>
                      </a:pPr>
                      <a:r>
                        <a:rPr lang="en-US" sz="850" dirty="0">
                          <a:solidFill>
                            <a:srgbClr val="1E293B"/>
                          </a:solidFill>
                          <a:latin typeface="Calibri" pitchFamily="34" charset="0"/>
                          <a:ea typeface="Calibri" pitchFamily="34" charset="-122"/>
                          <a:cs typeface="Calibri" pitchFamily="34" charset="-120"/>
                        </a:rPr>
                        <a:t>Procurement &amp; Inventory Dashboard (1W)</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i="1" dirty="0">
                          <a:solidFill>
                            <a:srgbClr val="475569"/>
                          </a:solidFill>
                          <a:latin typeface="Calibri" pitchFamily="34" charset="0"/>
                          <a:ea typeface="Calibri" pitchFamily="34" charset="-122"/>
                          <a:cs typeface="Calibri" pitchFamily="34" charset="-120"/>
                        </a:rPr>
                        <a:t>Outcome: Planners have a single screen for all decisions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6A34A"/>
                          </a:solidFill>
                          <a:latin typeface="Calibri" pitchFamily="34" charset="0"/>
                          <a:ea typeface="Calibri" pitchFamily="34" charset="-122"/>
                          <a:cs typeface="Calibri" pitchFamily="34" charset="-120"/>
                        </a:rPr>
                        <a:t>LOW</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20040" y="201168"/>
            <a:ext cx="54864" cy="685800"/>
          </a:xfrm>
          <a:prstGeom prst="rect">
            <a:avLst/>
          </a:prstGeom>
          <a:solidFill>
            <a:srgbClr val="1A56C4"/>
          </a:solidFill>
          <a:ln w="12700">
            <a:solidFill>
              <a:srgbClr val="1A56C4"/>
            </a:solidFill>
            <a:prstDash val="solid"/>
          </a:ln>
        </p:spPr>
      </p:sp>
      <p:sp>
        <p:nvSpPr>
          <p:cNvPr id="3" name="Text 1"/>
          <p:cNvSpPr/>
          <p:nvPr/>
        </p:nvSpPr>
        <p:spPr>
          <a:xfrm>
            <a:off x="475488" y="201168"/>
            <a:ext cx="11338560" cy="411480"/>
          </a:xfrm>
          <a:prstGeom prst="rect">
            <a:avLst/>
          </a:prstGeom>
          <a:noFill/>
          <a:ln/>
        </p:spPr>
        <p:txBody>
          <a:bodyPr wrap="square" lIns="0" tIns="0" rIns="0" bIns="0" rtlCol="0" anchor="ctr"/>
          <a:lstStyle/>
          <a:p>
            <a:pPr marL="0" indent="0">
              <a:buNone/>
            </a:pPr>
            <a:r>
              <a:rPr lang="en-US" sz="2200" b="1" dirty="0">
                <a:solidFill>
                  <a:srgbClr val="0D1B3E"/>
                </a:solidFill>
                <a:latin typeface="Trebuchet MS" pitchFamily="34" charset="0"/>
                <a:ea typeface="Trebuchet MS" pitchFamily="34" charset="-122"/>
                <a:cs typeface="Trebuchet MS" pitchFamily="34" charset="-120"/>
              </a:rPr>
              <a:t>What We Are Building On — 70% Already Exists</a:t>
            </a:r>
            <a:endParaRPr lang="en-US" sz="2200" dirty="0"/>
          </a:p>
        </p:txBody>
      </p:sp>
      <p:sp>
        <p:nvSpPr>
          <p:cNvPr id="4" name="Text 2"/>
          <p:cNvSpPr/>
          <p:nvPr/>
        </p:nvSpPr>
        <p:spPr>
          <a:xfrm>
            <a:off x="475488" y="566928"/>
            <a:ext cx="11338560" cy="274320"/>
          </a:xfrm>
          <a:prstGeom prst="rect">
            <a:avLst/>
          </a:prstGeom>
          <a:noFill/>
          <a:ln/>
        </p:spPr>
        <p:txBody>
          <a:bodyPr wrap="square" lIns="0" tIns="0" rIns="0" bIns="0" rtlCol="0" anchor="ctr"/>
          <a:lstStyle/>
          <a:p>
            <a:pPr marL="0" indent="0">
              <a:buNone/>
            </a:pPr>
            <a:r>
              <a:rPr lang="en-US" sz="1200" dirty="0">
                <a:solidFill>
                  <a:srgbClr val="475569"/>
                </a:solidFill>
                <a:latin typeface="Calibri" pitchFamily="34" charset="0"/>
                <a:ea typeface="Calibri" pitchFamily="34" charset="-122"/>
                <a:cs typeface="Calibri" pitchFamily="34" charset="-120"/>
              </a:rPr>
              <a:t>Existing automation assets reduce total build effort significantly</a:t>
            </a:r>
            <a:endParaRPr lang="en-US" sz="1200" dirty="0"/>
          </a:p>
        </p:txBody>
      </p:sp>
      <p:sp>
        <p:nvSpPr>
          <p:cNvPr id="5" name="Shape 3"/>
          <p:cNvSpPr/>
          <p:nvPr/>
        </p:nvSpPr>
        <p:spPr>
          <a:xfrm>
            <a:off x="320040" y="960120"/>
            <a:ext cx="11521440" cy="0"/>
          </a:xfrm>
          <a:prstGeom prst="line">
            <a:avLst/>
          </a:prstGeom>
          <a:noFill/>
          <a:ln w="9525">
            <a:solidFill>
              <a:srgbClr val="E2E8F0"/>
            </a:solidFill>
            <a:prstDash val="solid"/>
          </a:ln>
        </p:spPr>
      </p:sp>
      <p:sp>
        <p:nvSpPr>
          <p:cNvPr id="6" name="Shape 4"/>
          <p:cNvSpPr/>
          <p:nvPr/>
        </p:nvSpPr>
        <p:spPr>
          <a:xfrm>
            <a:off x="320040" y="1097280"/>
            <a:ext cx="3017520" cy="1828800"/>
          </a:xfrm>
          <a:prstGeom prst="rect">
            <a:avLst/>
          </a:prstGeom>
          <a:solidFill>
            <a:srgbClr val="0D1B3E"/>
          </a:solidFill>
          <a:ln w="6350">
            <a:solidFill>
              <a:srgbClr val="E2E8F0"/>
            </a:solidFill>
            <a:prstDash val="solid"/>
          </a:ln>
        </p:spPr>
      </p:sp>
      <p:sp>
        <p:nvSpPr>
          <p:cNvPr id="7" name="Text 5"/>
          <p:cNvSpPr/>
          <p:nvPr/>
        </p:nvSpPr>
        <p:spPr>
          <a:xfrm>
            <a:off x="320040" y="1234440"/>
            <a:ext cx="3017520" cy="914400"/>
          </a:xfrm>
          <a:prstGeom prst="rect">
            <a:avLst/>
          </a:prstGeom>
          <a:noFill/>
          <a:ln/>
        </p:spPr>
        <p:txBody>
          <a:bodyPr wrap="square" rtlCol="0" anchor="ctr"/>
          <a:lstStyle/>
          <a:p>
            <a:pPr marL="0" indent="0" algn="ctr">
              <a:buNone/>
            </a:pPr>
            <a:r>
              <a:rPr lang="en-US" sz="6400" b="1" dirty="0">
                <a:solidFill>
                  <a:srgbClr val="FFFFFF"/>
                </a:solidFill>
                <a:latin typeface="Trebuchet MS" pitchFamily="34" charset="0"/>
                <a:ea typeface="Trebuchet MS" pitchFamily="34" charset="-122"/>
                <a:cs typeface="Trebuchet MS" pitchFamily="34" charset="-120"/>
              </a:rPr>
              <a:t>70%</a:t>
            </a:r>
            <a:endParaRPr lang="en-US" sz="6400" dirty="0"/>
          </a:p>
        </p:txBody>
      </p:sp>
      <p:sp>
        <p:nvSpPr>
          <p:cNvPr id="8" name="Text 6"/>
          <p:cNvSpPr/>
          <p:nvPr/>
        </p:nvSpPr>
        <p:spPr>
          <a:xfrm>
            <a:off x="320040" y="2148840"/>
            <a:ext cx="3017520" cy="640080"/>
          </a:xfrm>
          <a:prstGeom prst="rect">
            <a:avLst/>
          </a:prstGeom>
          <a:noFill/>
          <a:ln/>
        </p:spPr>
        <p:txBody>
          <a:bodyPr wrap="square" rtlCol="0" anchor="ctr"/>
          <a:lstStyle/>
          <a:p>
            <a:pPr marL="0" indent="0" algn="ctr">
              <a:buNone/>
            </a:pPr>
            <a:r>
              <a:rPr lang="en-US" sz="1100" dirty="0">
                <a:solidFill>
                  <a:srgbClr val="93C5FD"/>
                </a:solidFill>
                <a:latin typeface="Calibri" pitchFamily="34" charset="0"/>
                <a:ea typeface="Calibri" pitchFamily="34" charset="-122"/>
                <a:cs typeface="Calibri" pitchFamily="34" charset="-120"/>
              </a:rPr>
              <a:t>of foundational data</a:t>
            </a:r>
            <a:endParaRPr lang="en-US" sz="1100" dirty="0"/>
          </a:p>
          <a:p>
            <a:pPr marL="0" indent="0" algn="ctr">
              <a:buNone/>
            </a:pPr>
            <a:r>
              <a:rPr lang="en-US" sz="1100" dirty="0">
                <a:solidFill>
                  <a:srgbClr val="93C5FD"/>
                </a:solidFill>
                <a:latin typeface="Calibri" pitchFamily="34" charset="0"/>
                <a:ea typeface="Calibri" pitchFamily="34" charset="-122"/>
                <a:cs typeface="Calibri" pitchFamily="34" charset="-120"/>
              </a:rPr>
              <a:t>&amp; plumbing already exists</a:t>
            </a:r>
            <a:endParaRPr lang="en-US" sz="1100" dirty="0"/>
          </a:p>
        </p:txBody>
      </p:sp>
      <p:sp>
        <p:nvSpPr>
          <p:cNvPr id="9" name="Shape 7"/>
          <p:cNvSpPr/>
          <p:nvPr/>
        </p:nvSpPr>
        <p:spPr>
          <a:xfrm>
            <a:off x="3520440" y="1097280"/>
            <a:ext cx="4663440" cy="182880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10" name="Text 8"/>
          <p:cNvSpPr/>
          <p:nvPr/>
        </p:nvSpPr>
        <p:spPr>
          <a:xfrm>
            <a:off x="3657600" y="1170432"/>
            <a:ext cx="4389120" cy="256032"/>
          </a:xfrm>
          <a:prstGeom prst="rect">
            <a:avLst/>
          </a:prstGeom>
          <a:noFill/>
          <a:ln/>
        </p:spPr>
        <p:txBody>
          <a:bodyPr wrap="square" rtlCol="0" anchor="ctr"/>
          <a:lstStyle/>
          <a:p>
            <a:pPr marL="0" indent="0">
              <a:buNone/>
            </a:pPr>
            <a:r>
              <a:rPr lang="en-US" sz="1000" b="1" dirty="0">
                <a:solidFill>
                  <a:srgbClr val="16A34A"/>
                </a:solidFill>
                <a:latin typeface="Trebuchet MS" pitchFamily="34" charset="0"/>
                <a:ea typeface="Trebuchet MS" pitchFamily="34" charset="-122"/>
                <a:cs typeface="Trebuchet MS" pitchFamily="34" charset="-120"/>
              </a:rPr>
              <a:t>EXISTING ASSETS — READY TO LEVERAGE</a:t>
            </a:r>
            <a:endParaRPr lang="en-US" sz="1000" dirty="0"/>
          </a:p>
        </p:txBody>
      </p:sp>
      <p:sp>
        <p:nvSpPr>
          <p:cNvPr id="11" name="Shape 9"/>
          <p:cNvSpPr/>
          <p:nvPr/>
        </p:nvSpPr>
        <p:spPr>
          <a:xfrm>
            <a:off x="3657600" y="1481328"/>
            <a:ext cx="146304" cy="146304"/>
          </a:xfrm>
          <a:prstGeom prst="ellipse">
            <a:avLst/>
          </a:prstGeom>
          <a:solidFill>
            <a:srgbClr val="16A34A"/>
          </a:solidFill>
          <a:ln w="12700">
            <a:solidFill>
              <a:srgbClr val="16A34A"/>
            </a:solidFill>
            <a:prstDash val="solid"/>
          </a:ln>
        </p:spPr>
      </p:sp>
      <p:sp>
        <p:nvSpPr>
          <p:cNvPr id="12" name="Text 10"/>
          <p:cNvSpPr/>
          <p:nvPr/>
        </p:nvSpPr>
        <p:spPr>
          <a:xfrm>
            <a:off x="3858768" y="1463040"/>
            <a:ext cx="4160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MDM (Master Data Management)</a:t>
            </a:r>
            <a:endParaRPr lang="en-US" sz="950" dirty="0"/>
          </a:p>
        </p:txBody>
      </p:sp>
      <p:sp>
        <p:nvSpPr>
          <p:cNvPr id="13" name="Shape 11"/>
          <p:cNvSpPr/>
          <p:nvPr/>
        </p:nvSpPr>
        <p:spPr>
          <a:xfrm>
            <a:off x="3657600" y="1700784"/>
            <a:ext cx="146304" cy="146304"/>
          </a:xfrm>
          <a:prstGeom prst="ellipse">
            <a:avLst/>
          </a:prstGeom>
          <a:solidFill>
            <a:srgbClr val="16A34A"/>
          </a:solidFill>
          <a:ln w="12700">
            <a:solidFill>
              <a:srgbClr val="16A34A"/>
            </a:solidFill>
            <a:prstDash val="solid"/>
          </a:ln>
        </p:spPr>
      </p:sp>
      <p:sp>
        <p:nvSpPr>
          <p:cNvPr id="14" name="Text 12"/>
          <p:cNvSpPr/>
          <p:nvPr/>
        </p:nvSpPr>
        <p:spPr>
          <a:xfrm>
            <a:off x="3858768" y="1682496"/>
            <a:ext cx="4160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SupplyNote Integration (PO-GRN, STO-GRN)</a:t>
            </a:r>
            <a:endParaRPr lang="en-US" sz="950" dirty="0"/>
          </a:p>
        </p:txBody>
      </p:sp>
      <p:sp>
        <p:nvSpPr>
          <p:cNvPr id="15" name="Shape 13"/>
          <p:cNvSpPr/>
          <p:nvPr/>
        </p:nvSpPr>
        <p:spPr>
          <a:xfrm>
            <a:off x="3657600" y="1920240"/>
            <a:ext cx="146304" cy="146304"/>
          </a:xfrm>
          <a:prstGeom prst="ellipse">
            <a:avLst/>
          </a:prstGeom>
          <a:solidFill>
            <a:srgbClr val="16A34A"/>
          </a:solidFill>
          <a:ln w="12700">
            <a:solidFill>
              <a:srgbClr val="16A34A"/>
            </a:solidFill>
            <a:prstDash val="solid"/>
          </a:ln>
        </p:spPr>
      </p:sp>
      <p:sp>
        <p:nvSpPr>
          <p:cNvPr id="16" name="Text 14"/>
          <p:cNvSpPr/>
          <p:nvPr/>
        </p:nvSpPr>
        <p:spPr>
          <a:xfrm>
            <a:off x="3858768" y="1901952"/>
            <a:ext cx="4160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Pricing Engine</a:t>
            </a:r>
            <a:endParaRPr lang="en-US" sz="950" dirty="0"/>
          </a:p>
        </p:txBody>
      </p:sp>
      <p:sp>
        <p:nvSpPr>
          <p:cNvPr id="17" name="Shape 15"/>
          <p:cNvSpPr/>
          <p:nvPr/>
        </p:nvSpPr>
        <p:spPr>
          <a:xfrm>
            <a:off x="3657600" y="2139696"/>
            <a:ext cx="146304" cy="146304"/>
          </a:xfrm>
          <a:prstGeom prst="ellipse">
            <a:avLst/>
          </a:prstGeom>
          <a:solidFill>
            <a:srgbClr val="16A34A"/>
          </a:solidFill>
          <a:ln w="12700">
            <a:solidFill>
              <a:srgbClr val="16A34A"/>
            </a:solidFill>
            <a:prstDash val="solid"/>
          </a:ln>
        </p:spPr>
      </p:sp>
      <p:sp>
        <p:nvSpPr>
          <p:cNvPr id="18" name="Text 16"/>
          <p:cNvSpPr/>
          <p:nvPr/>
        </p:nvSpPr>
        <p:spPr>
          <a:xfrm>
            <a:off x="3858768" y="2121408"/>
            <a:ext cx="4160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Demand Downloader</a:t>
            </a:r>
            <a:endParaRPr lang="en-US" sz="950" dirty="0"/>
          </a:p>
        </p:txBody>
      </p:sp>
      <p:sp>
        <p:nvSpPr>
          <p:cNvPr id="19" name="Shape 17"/>
          <p:cNvSpPr/>
          <p:nvPr/>
        </p:nvSpPr>
        <p:spPr>
          <a:xfrm>
            <a:off x="3657600" y="2359152"/>
            <a:ext cx="146304" cy="146304"/>
          </a:xfrm>
          <a:prstGeom prst="ellipse">
            <a:avLst/>
          </a:prstGeom>
          <a:solidFill>
            <a:srgbClr val="16A34A"/>
          </a:solidFill>
          <a:ln w="12700">
            <a:solidFill>
              <a:srgbClr val="16A34A"/>
            </a:solidFill>
            <a:prstDash val="solid"/>
          </a:ln>
        </p:spPr>
      </p:sp>
      <p:sp>
        <p:nvSpPr>
          <p:cNvPr id="20" name="Text 18"/>
          <p:cNvSpPr/>
          <p:nvPr/>
        </p:nvSpPr>
        <p:spPr>
          <a:xfrm>
            <a:off x="3858768" y="2340864"/>
            <a:ext cx="4160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Metabase Sales Reporting</a:t>
            </a:r>
            <a:endParaRPr lang="en-US" sz="950" dirty="0"/>
          </a:p>
        </p:txBody>
      </p:sp>
      <p:sp>
        <p:nvSpPr>
          <p:cNvPr id="21" name="Shape 19"/>
          <p:cNvSpPr/>
          <p:nvPr/>
        </p:nvSpPr>
        <p:spPr>
          <a:xfrm>
            <a:off x="3657600" y="2578608"/>
            <a:ext cx="146304" cy="146304"/>
          </a:xfrm>
          <a:prstGeom prst="ellipse">
            <a:avLst/>
          </a:prstGeom>
          <a:solidFill>
            <a:srgbClr val="16A34A"/>
          </a:solidFill>
          <a:ln w="12700">
            <a:solidFill>
              <a:srgbClr val="16A34A"/>
            </a:solidFill>
            <a:prstDash val="solid"/>
          </a:ln>
        </p:spPr>
      </p:sp>
      <p:sp>
        <p:nvSpPr>
          <p:cNvPr id="22" name="Text 20"/>
          <p:cNvSpPr/>
          <p:nvPr/>
        </p:nvSpPr>
        <p:spPr>
          <a:xfrm>
            <a:off x="3858768" y="2560320"/>
            <a:ext cx="4160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SupplyNote Warehouse &amp; Recipe Data</a:t>
            </a:r>
            <a:endParaRPr lang="en-US" sz="950" dirty="0"/>
          </a:p>
        </p:txBody>
      </p:sp>
      <p:sp>
        <p:nvSpPr>
          <p:cNvPr id="23" name="Shape 21"/>
          <p:cNvSpPr/>
          <p:nvPr/>
        </p:nvSpPr>
        <p:spPr>
          <a:xfrm>
            <a:off x="8366760" y="1097280"/>
            <a:ext cx="3474720" cy="1828800"/>
          </a:xfrm>
          <a:prstGeom prst="rect">
            <a:avLst/>
          </a:prstGeom>
          <a:solidFill>
            <a:srgbClr val="FFFFFF"/>
          </a:solidFill>
          <a:ln w="6350">
            <a:solidFill>
              <a:srgbClr val="E2E8F0"/>
            </a:solidFill>
            <a:prstDash val="solid"/>
          </a:ln>
          <a:effectLst>
            <a:outerShdw blurRad="101600" dist="38100" dir="8100000" algn="bl" rotWithShape="0">
              <a:srgbClr val="000000">
                <a:alpha val="10000"/>
              </a:srgbClr>
            </a:outerShdw>
          </a:effectLst>
        </p:spPr>
      </p:sp>
      <p:sp>
        <p:nvSpPr>
          <p:cNvPr id="24" name="Text 22"/>
          <p:cNvSpPr/>
          <p:nvPr/>
        </p:nvSpPr>
        <p:spPr>
          <a:xfrm>
            <a:off x="8503920" y="1170432"/>
            <a:ext cx="3200400" cy="256032"/>
          </a:xfrm>
          <a:prstGeom prst="rect">
            <a:avLst/>
          </a:prstGeom>
          <a:noFill/>
          <a:ln/>
        </p:spPr>
        <p:txBody>
          <a:bodyPr wrap="square" rtlCol="0" anchor="ctr"/>
          <a:lstStyle/>
          <a:p>
            <a:pPr marL="0" indent="0">
              <a:buNone/>
            </a:pPr>
            <a:r>
              <a:rPr lang="en-US" sz="1000" b="1" dirty="0">
                <a:solidFill>
                  <a:srgbClr val="1A56C4"/>
                </a:solidFill>
                <a:latin typeface="Trebuchet MS" pitchFamily="34" charset="0"/>
                <a:ea typeface="Trebuchet MS" pitchFamily="34" charset="-122"/>
                <a:cs typeface="Trebuchet MS" pitchFamily="34" charset="-120"/>
              </a:rPr>
              <a:t>STILL NEEDS TO BE BUILT (30%)</a:t>
            </a:r>
            <a:endParaRPr lang="en-US" sz="1000" dirty="0"/>
          </a:p>
        </p:txBody>
      </p:sp>
      <p:sp>
        <p:nvSpPr>
          <p:cNvPr id="25" name="Shape 23"/>
          <p:cNvSpPr/>
          <p:nvPr/>
        </p:nvSpPr>
        <p:spPr>
          <a:xfrm>
            <a:off x="8503920" y="1517904"/>
            <a:ext cx="128016" cy="128016"/>
          </a:xfrm>
          <a:prstGeom prst="rect">
            <a:avLst/>
          </a:prstGeom>
          <a:solidFill>
            <a:srgbClr val="1A56C4"/>
          </a:solidFill>
          <a:ln w="12700">
            <a:solidFill>
              <a:srgbClr val="1A56C4"/>
            </a:solidFill>
            <a:prstDash val="solid"/>
          </a:ln>
        </p:spPr>
      </p:sp>
      <p:sp>
        <p:nvSpPr>
          <p:cNvPr id="26" name="Text 24"/>
          <p:cNvSpPr/>
          <p:nvPr/>
        </p:nvSpPr>
        <p:spPr>
          <a:xfrm>
            <a:off x="8686800" y="1481328"/>
            <a:ext cx="3017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Statistical Forecasting Engine</a:t>
            </a:r>
            <a:endParaRPr lang="en-US" sz="950" dirty="0"/>
          </a:p>
        </p:txBody>
      </p:sp>
      <p:sp>
        <p:nvSpPr>
          <p:cNvPr id="27" name="Shape 25"/>
          <p:cNvSpPr/>
          <p:nvPr/>
        </p:nvSpPr>
        <p:spPr>
          <a:xfrm>
            <a:off x="8503920" y="1737360"/>
            <a:ext cx="128016" cy="128016"/>
          </a:xfrm>
          <a:prstGeom prst="rect">
            <a:avLst/>
          </a:prstGeom>
          <a:solidFill>
            <a:srgbClr val="1A56C4"/>
          </a:solidFill>
          <a:ln w="12700">
            <a:solidFill>
              <a:srgbClr val="1A56C4"/>
            </a:solidFill>
            <a:prstDash val="solid"/>
          </a:ln>
        </p:spPr>
      </p:sp>
      <p:sp>
        <p:nvSpPr>
          <p:cNvPr id="28" name="Text 26"/>
          <p:cNvSpPr/>
          <p:nvPr/>
        </p:nvSpPr>
        <p:spPr>
          <a:xfrm>
            <a:off x="8686800" y="1700784"/>
            <a:ext cx="3017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Recipe Explosion Logic</a:t>
            </a:r>
            <a:endParaRPr lang="en-US" sz="950" dirty="0"/>
          </a:p>
        </p:txBody>
      </p:sp>
      <p:sp>
        <p:nvSpPr>
          <p:cNvPr id="29" name="Shape 27"/>
          <p:cNvSpPr/>
          <p:nvPr/>
        </p:nvSpPr>
        <p:spPr>
          <a:xfrm>
            <a:off x="8503920" y="1956816"/>
            <a:ext cx="128016" cy="128016"/>
          </a:xfrm>
          <a:prstGeom prst="rect">
            <a:avLst/>
          </a:prstGeom>
          <a:solidFill>
            <a:srgbClr val="1A56C4"/>
          </a:solidFill>
          <a:ln w="12700">
            <a:solidFill>
              <a:srgbClr val="1A56C4"/>
            </a:solidFill>
            <a:prstDash val="solid"/>
          </a:ln>
        </p:spPr>
      </p:sp>
      <p:sp>
        <p:nvSpPr>
          <p:cNvPr id="30" name="Text 28"/>
          <p:cNvSpPr/>
          <p:nvPr/>
        </p:nvSpPr>
        <p:spPr>
          <a:xfrm>
            <a:off x="8686800" y="1920240"/>
            <a:ext cx="3017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Warehouse Planning Automation</a:t>
            </a:r>
            <a:endParaRPr lang="en-US" sz="950" dirty="0"/>
          </a:p>
        </p:txBody>
      </p:sp>
      <p:sp>
        <p:nvSpPr>
          <p:cNvPr id="31" name="Shape 29"/>
          <p:cNvSpPr/>
          <p:nvPr/>
        </p:nvSpPr>
        <p:spPr>
          <a:xfrm>
            <a:off x="8503920" y="2176272"/>
            <a:ext cx="128016" cy="128016"/>
          </a:xfrm>
          <a:prstGeom prst="rect">
            <a:avLst/>
          </a:prstGeom>
          <a:solidFill>
            <a:srgbClr val="1A56C4"/>
          </a:solidFill>
          <a:ln w="12700">
            <a:solidFill>
              <a:srgbClr val="1A56C4"/>
            </a:solidFill>
            <a:prstDash val="solid"/>
          </a:ln>
        </p:spPr>
      </p:sp>
      <p:sp>
        <p:nvSpPr>
          <p:cNvPr id="32" name="Text 30"/>
          <p:cNvSpPr/>
          <p:nvPr/>
        </p:nvSpPr>
        <p:spPr>
          <a:xfrm>
            <a:off x="8686800" y="2139696"/>
            <a:ext cx="3017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Procurement Recommendation Engine</a:t>
            </a:r>
            <a:endParaRPr lang="en-US" sz="950" dirty="0"/>
          </a:p>
        </p:txBody>
      </p:sp>
      <p:sp>
        <p:nvSpPr>
          <p:cNvPr id="33" name="Shape 31"/>
          <p:cNvSpPr/>
          <p:nvPr/>
        </p:nvSpPr>
        <p:spPr>
          <a:xfrm>
            <a:off x="8503920" y="2395728"/>
            <a:ext cx="128016" cy="128016"/>
          </a:xfrm>
          <a:prstGeom prst="rect">
            <a:avLst/>
          </a:prstGeom>
          <a:solidFill>
            <a:srgbClr val="1A56C4"/>
          </a:solidFill>
          <a:ln w="12700">
            <a:solidFill>
              <a:srgbClr val="1A56C4"/>
            </a:solidFill>
            <a:prstDash val="solid"/>
          </a:ln>
        </p:spPr>
      </p:sp>
      <p:sp>
        <p:nvSpPr>
          <p:cNvPr id="34" name="Text 32"/>
          <p:cNvSpPr/>
          <p:nvPr/>
        </p:nvSpPr>
        <p:spPr>
          <a:xfrm>
            <a:off x="8686800" y="2359152"/>
            <a:ext cx="3017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Alert &amp; Exception Engine</a:t>
            </a:r>
            <a:endParaRPr lang="en-US" sz="950" dirty="0"/>
          </a:p>
        </p:txBody>
      </p:sp>
      <p:sp>
        <p:nvSpPr>
          <p:cNvPr id="35" name="Shape 33"/>
          <p:cNvSpPr/>
          <p:nvPr/>
        </p:nvSpPr>
        <p:spPr>
          <a:xfrm>
            <a:off x="8503920" y="2615184"/>
            <a:ext cx="128016" cy="128016"/>
          </a:xfrm>
          <a:prstGeom prst="rect">
            <a:avLst/>
          </a:prstGeom>
          <a:solidFill>
            <a:srgbClr val="1A56C4"/>
          </a:solidFill>
          <a:ln w="12700">
            <a:solidFill>
              <a:srgbClr val="1A56C4"/>
            </a:solidFill>
            <a:prstDash val="solid"/>
          </a:ln>
        </p:spPr>
      </p:sp>
      <p:sp>
        <p:nvSpPr>
          <p:cNvPr id="36" name="Text 34"/>
          <p:cNvSpPr/>
          <p:nvPr/>
        </p:nvSpPr>
        <p:spPr>
          <a:xfrm>
            <a:off x="8686800" y="2578608"/>
            <a:ext cx="3017520" cy="219456"/>
          </a:xfrm>
          <a:prstGeom prst="rect">
            <a:avLst/>
          </a:prstGeom>
          <a:noFill/>
          <a:ln/>
        </p:spPr>
        <p:txBody>
          <a:bodyPr wrap="square" lIns="0" tIns="0" rIns="0" bIns="0" rtlCol="0" anchor="ctr"/>
          <a:lstStyle/>
          <a:p>
            <a:pPr marL="0" indent="0">
              <a:buNone/>
            </a:pPr>
            <a:r>
              <a:rPr lang="en-US" sz="950" dirty="0">
                <a:solidFill>
                  <a:srgbClr val="1E293B"/>
                </a:solidFill>
                <a:latin typeface="Calibri" pitchFamily="34" charset="0"/>
                <a:ea typeface="Calibri" pitchFamily="34" charset="-122"/>
                <a:cs typeface="Calibri" pitchFamily="34" charset="-120"/>
              </a:rPr>
              <a:t>Unified Planning Dashboard</a:t>
            </a:r>
            <a:endParaRPr lang="en-US" sz="950" dirty="0"/>
          </a:p>
        </p:txBody>
      </p:sp>
      <p:sp>
        <p:nvSpPr>
          <p:cNvPr id="37" name="Shape 35"/>
          <p:cNvSpPr/>
          <p:nvPr/>
        </p:nvSpPr>
        <p:spPr>
          <a:xfrm>
            <a:off x="320040" y="3063240"/>
            <a:ext cx="11521440" cy="365760"/>
          </a:xfrm>
          <a:prstGeom prst="rect">
            <a:avLst/>
          </a:prstGeom>
          <a:solidFill>
            <a:srgbClr val="FFFBEB"/>
          </a:solidFill>
          <a:ln w="12700">
            <a:solidFill>
              <a:srgbClr val="D97706"/>
            </a:solidFill>
            <a:prstDash val="solid"/>
          </a:ln>
        </p:spPr>
      </p:sp>
      <p:sp>
        <p:nvSpPr>
          <p:cNvPr id="38" name="Text 36"/>
          <p:cNvSpPr/>
          <p:nvPr/>
        </p:nvSpPr>
        <p:spPr>
          <a:xfrm>
            <a:off x="457200" y="3081528"/>
            <a:ext cx="11247120" cy="329184"/>
          </a:xfrm>
          <a:prstGeom prst="rect">
            <a:avLst/>
          </a:prstGeom>
          <a:noFill/>
          <a:ln/>
        </p:spPr>
        <p:txBody>
          <a:bodyPr wrap="square" rtlCol="0" anchor="ctr"/>
          <a:lstStyle/>
          <a:p>
            <a:pPr marL="0" indent="0">
              <a:buNone/>
            </a:pPr>
            <a:r>
              <a:rPr lang="en-US" sz="1000" dirty="0">
                <a:solidFill>
                  <a:srgbClr val="D97706"/>
                </a:solidFill>
                <a:latin typeface="Calibri" pitchFamily="34" charset="0"/>
                <a:ea typeface="Calibri" pitchFamily="34" charset="-122"/>
                <a:cs typeface="Calibri" pitchFamily="34" charset="-120"/>
              </a:rPr>
              <a:t>⚠  IMPORTANT CAVEAT:  While the plumbing exists, the DATA flowing through it requires significant corrective action before this engine can go live.</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320040" y="3520440"/>
          <a:ext cx="10789920" cy="2435352"/>
        </p:xfrm>
        <a:graphic>
          <a:graphicData uri="http://schemas.openxmlformats.org/drawingml/2006/table">
            <a:tbl>
              <a:tblPr/>
              <a:tblGrid>
                <a:gridCol w="256032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47472">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Area Requiring Corrective Action</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Current State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Required State</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Who Owns It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Effort</a:t>
                      </a:r>
                      <a:endParaRPr lang="en-US" sz="10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1B3E"/>
                    </a:solidFill>
                  </a:tcPr>
                </a:tc>
                <a:extLst>
                  <a:ext uri="{0D108BD9-81ED-4DB2-BD59-A6C34878D82A}">
                    <a16:rowId xmlns:a16="http://schemas.microsoft.com/office/drawing/2014/main" val="10000"/>
                  </a:ext>
                </a:extLst>
              </a:tr>
              <a:tr h="347472">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Product / SKU Naming</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DC2626"/>
                          </a:solidFill>
                          <a:latin typeface="Calibri" pitchFamily="34" charset="0"/>
                          <a:ea typeface="Calibri" pitchFamily="34" charset="-122"/>
                          <a:cs typeface="Calibri" pitchFamily="34" charset="-120"/>
                        </a:rPr>
                        <a:t>Inconsistent, duplicates across brands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50" dirty="0">
                          <a:solidFill>
                            <a:srgbClr val="16A34A"/>
                          </a:solidFill>
                          <a:latin typeface="Calibri" pitchFamily="34" charset="0"/>
                          <a:ea typeface="Calibri" pitchFamily="34" charset="-122"/>
                          <a:cs typeface="Calibri" pitchFamily="34" charset="-120"/>
                        </a:rPr>
                        <a:t>Unified taxonomy, deduped, locked naming convention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Tech + Brand Teams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A56C4"/>
                          </a:solidFill>
                          <a:latin typeface="Calibri" pitchFamily="34" charset="0"/>
                          <a:ea typeface="Calibri" pitchFamily="34" charset="-122"/>
                          <a:cs typeface="Calibri" pitchFamily="34" charset="-120"/>
                        </a:rPr>
                        <a:t>2 Weeks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Recipe Master Accuracy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DC2626"/>
                          </a:solidFill>
                          <a:latin typeface="Calibri" pitchFamily="34" charset="0"/>
                          <a:ea typeface="Calibri" pitchFamily="34" charset="-122"/>
                          <a:cs typeface="Calibri" pitchFamily="34" charset="-120"/>
                        </a:rPr>
                        <a:t>Recipes in SupplyNote not validated per outlet/menu</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50" dirty="0">
                          <a:solidFill>
                            <a:srgbClr val="16A34A"/>
                          </a:solidFill>
                          <a:latin typeface="Calibri" pitchFamily="34" charset="0"/>
                          <a:ea typeface="Calibri" pitchFamily="34" charset="-122"/>
                          <a:cs typeface="Calibri" pitchFamily="34" charset="-120"/>
                        </a:rPr>
                        <a:t>Every recipe validated by culinary team, all ingredients mapped</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Culinary + Supply Chain</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b="1" dirty="0">
                          <a:solidFill>
                            <a:srgbClr val="1A56C4"/>
                          </a:solidFill>
                          <a:latin typeface="Calibri" pitchFamily="34" charset="0"/>
                          <a:ea typeface="Calibri" pitchFamily="34" charset="-122"/>
                          <a:cs typeface="Calibri" pitchFamily="34" charset="-120"/>
                        </a:rPr>
                        <a:t>3 Weeks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47472">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UOM Consistency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DC2626"/>
                          </a:solidFill>
                          <a:latin typeface="Calibri" pitchFamily="34" charset="0"/>
                          <a:ea typeface="Calibri" pitchFamily="34" charset="-122"/>
                          <a:cs typeface="Calibri" pitchFamily="34" charset="-120"/>
                        </a:rPr>
                        <a:t>Mix of gm, Kg, pcs, portions across records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50" dirty="0">
                          <a:solidFill>
                            <a:srgbClr val="16A34A"/>
                          </a:solidFill>
                          <a:latin typeface="Calibri" pitchFamily="34" charset="0"/>
                          <a:ea typeface="Calibri" pitchFamily="34" charset="-122"/>
                          <a:cs typeface="Calibri" pitchFamily="34" charset="-120"/>
                        </a:rPr>
                        <a:t>Single UOM per material category, enforced at data entry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Tech + Warehouse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A56C4"/>
                          </a:solidFill>
                          <a:latin typeface="Calibri" pitchFamily="34" charset="0"/>
                          <a:ea typeface="Calibri" pitchFamily="34" charset="-122"/>
                          <a:cs typeface="Calibri" pitchFamily="34" charset="-120"/>
                        </a:rPr>
                        <a:t>2 Weeks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Sales History Quality</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DC2626"/>
                          </a:solidFill>
                          <a:latin typeface="Calibri" pitchFamily="34" charset="0"/>
                          <a:ea typeface="Calibri" pitchFamily="34" charset="-122"/>
                          <a:cs typeface="Calibri" pitchFamily="34" charset="-120"/>
                        </a:rPr>
                        <a:t>Some dates missing, channel splits inconsistent</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50" dirty="0">
                          <a:solidFill>
                            <a:srgbClr val="16A34A"/>
                          </a:solidFill>
                          <a:latin typeface="Calibri" pitchFamily="34" charset="0"/>
                          <a:ea typeface="Calibri" pitchFamily="34" charset="-122"/>
                          <a:cs typeface="Calibri" pitchFamily="34" charset="-120"/>
                        </a:rPr>
                        <a:t>6 months of clean, complete, channel-tagged sales records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Data / Analytics Team</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b="1" dirty="0">
                          <a:solidFill>
                            <a:srgbClr val="1A56C4"/>
                          </a:solidFill>
                          <a:latin typeface="Calibri" pitchFamily="34" charset="0"/>
                          <a:ea typeface="Calibri" pitchFamily="34" charset="-122"/>
                          <a:cs typeface="Calibri" pitchFamily="34" charset="-120"/>
                        </a:rPr>
                        <a:t>2 Weeks</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r h="347472">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Vendor &amp; Lead Time Master</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850" dirty="0">
                          <a:solidFill>
                            <a:srgbClr val="DC2626"/>
                          </a:solidFill>
                          <a:latin typeface="Calibri" pitchFamily="34" charset="0"/>
                          <a:ea typeface="Calibri" pitchFamily="34" charset="-122"/>
                          <a:cs typeface="Calibri" pitchFamily="34" charset="-120"/>
                        </a:rPr>
                        <a:t>Stored informally or in planner's knowledge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50" dirty="0">
                          <a:solidFill>
                            <a:srgbClr val="16A34A"/>
                          </a:solidFill>
                          <a:latin typeface="Calibri" pitchFamily="34" charset="0"/>
                          <a:ea typeface="Calibri" pitchFamily="34" charset="-122"/>
                          <a:cs typeface="Calibri" pitchFamily="34" charset="-120"/>
                        </a:rPr>
                        <a:t>All vendors in system with lead time, MOQ, category mapping</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Procurement Team</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1A56C4"/>
                          </a:solidFill>
                          <a:latin typeface="Calibri" pitchFamily="34" charset="0"/>
                          <a:ea typeface="Calibri" pitchFamily="34" charset="-122"/>
                          <a:cs typeface="Calibri" pitchFamily="34" charset="-120"/>
                        </a:rPr>
                        <a:t>1 Week</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900" b="1" dirty="0">
                          <a:solidFill>
                            <a:srgbClr val="0D1B3E"/>
                          </a:solidFill>
                          <a:latin typeface="Calibri" pitchFamily="34" charset="0"/>
                          <a:ea typeface="Calibri" pitchFamily="34" charset="-122"/>
                          <a:cs typeface="Calibri" pitchFamily="34" charset="-120"/>
                        </a:rPr>
                        <a:t>Location-Kitchen Mapping</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buNone/>
                      </a:pPr>
                      <a:r>
                        <a:rPr lang="en-US" sz="850" dirty="0">
                          <a:solidFill>
                            <a:srgbClr val="DC2626"/>
                          </a:solidFill>
                          <a:latin typeface="Calibri" pitchFamily="34" charset="0"/>
                          <a:ea typeface="Calibri" pitchFamily="34" charset="-122"/>
                          <a:cs typeface="Calibri" pitchFamily="34" charset="-120"/>
                        </a:rPr>
                        <a:t>Partial — some outlets not mapped correctly</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850" dirty="0">
                          <a:solidFill>
                            <a:srgbClr val="16A34A"/>
                          </a:solidFill>
                          <a:latin typeface="Calibri" pitchFamily="34" charset="0"/>
                          <a:ea typeface="Calibri" pitchFamily="34" charset="-122"/>
                          <a:cs typeface="Calibri" pitchFamily="34" charset="-120"/>
                        </a:rPr>
                        <a:t>Every outlet mapped to its sourcing kitchen and warehouse</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CFCE7"/>
                    </a:solidFill>
                  </a:tcPr>
                </a:tc>
                <a:tc>
                  <a:txBody>
                    <a:bodyPr/>
                    <a:lstStyle/>
                    <a:p>
                      <a:pPr marL="0" indent="0" algn="ctr">
                        <a:buNone/>
                      </a:pPr>
                      <a:r>
                        <a:rPr lang="en-US" sz="850" dirty="0">
                          <a:solidFill>
                            <a:srgbClr val="475569"/>
                          </a:solidFill>
                          <a:latin typeface="Calibri" pitchFamily="34" charset="0"/>
                          <a:ea typeface="Calibri" pitchFamily="34" charset="-122"/>
                          <a:cs typeface="Calibri" pitchFamily="34" charset="-120"/>
                        </a:rPr>
                        <a:t>Operations Team</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marL="0" indent="0" algn="ctr">
                        <a:buNone/>
                      </a:pPr>
                      <a:r>
                        <a:rPr lang="en-US" sz="850" b="1" dirty="0">
                          <a:solidFill>
                            <a:srgbClr val="1A56C4"/>
                          </a:solidFill>
                          <a:latin typeface="Calibri" pitchFamily="34" charset="0"/>
                          <a:ea typeface="Calibri" pitchFamily="34" charset="-122"/>
                          <a:cs typeface="Calibri" pitchFamily="34" charset="-120"/>
                        </a:rPr>
                        <a:t>1 Week</a:t>
                      </a:r>
                      <a:endParaRPr lang="en-US" sz="85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502920"/>
          </a:xfrm>
          <a:prstGeom prst="rect">
            <a:avLst/>
          </a:prstGeom>
          <a:noFill/>
          <a:ln/>
        </p:spPr>
        <p:txBody>
          <a:bodyPr wrap="square" rtlCol="0" anchor="ctr"/>
          <a:lstStyle/>
          <a:p>
            <a:pPr marL="0" indent="0" algn="ctr">
              <a:buNone/>
            </a:pPr>
            <a:r>
              <a:rPr lang="en-US" sz="2600" b="1" dirty="0">
                <a:solidFill>
                  <a:srgbClr val="FFFFFF"/>
                </a:solidFill>
                <a:latin typeface="Trebuchet MS" pitchFamily="34" charset="0"/>
                <a:ea typeface="Trebuchet MS" pitchFamily="34" charset="-122"/>
                <a:cs typeface="Trebuchet MS" pitchFamily="34" charset="-120"/>
              </a:rPr>
              <a:t>Expected Business Impact</a:t>
            </a:r>
            <a:endParaRPr lang="en-US" sz="2600" dirty="0"/>
          </a:p>
        </p:txBody>
      </p:sp>
      <p:sp>
        <p:nvSpPr>
          <p:cNvPr id="3" name="Text 1"/>
          <p:cNvSpPr/>
          <p:nvPr/>
        </p:nvSpPr>
        <p:spPr>
          <a:xfrm>
            <a:off x="457200" y="777240"/>
            <a:ext cx="11247120" cy="320040"/>
          </a:xfrm>
          <a:prstGeom prst="rect">
            <a:avLst/>
          </a:prstGeom>
          <a:noFill/>
          <a:ln/>
        </p:spPr>
        <p:txBody>
          <a:bodyPr wrap="square" rtlCol="0" anchor="ctr"/>
          <a:lstStyle/>
          <a:p>
            <a:pPr marL="0" indent="0" algn="ctr">
              <a:buNone/>
            </a:pPr>
            <a:r>
              <a:rPr lang="en-US" sz="1300" i="1" dirty="0">
                <a:solidFill>
                  <a:srgbClr val="93C5FD"/>
                </a:solidFill>
                <a:latin typeface="Calibri" pitchFamily="34" charset="0"/>
                <a:ea typeface="Calibri" pitchFamily="34" charset="-122"/>
                <a:cs typeface="Calibri" pitchFamily="34" charset="-120"/>
              </a:rPr>
              <a:t>What Curefoods gains once the engine is live and data is accurate</a:t>
            </a:r>
            <a:endParaRPr lang="en-US" sz="1300" dirty="0"/>
          </a:p>
        </p:txBody>
      </p:sp>
      <p:sp>
        <p:nvSpPr>
          <p:cNvPr id="4" name="Shape 2"/>
          <p:cNvSpPr/>
          <p:nvPr/>
        </p:nvSpPr>
        <p:spPr>
          <a:xfrm>
            <a:off x="365760" y="1280160"/>
            <a:ext cx="3566160" cy="1920240"/>
          </a:xfrm>
          <a:prstGeom prst="rect">
            <a:avLst/>
          </a:prstGeom>
          <a:solidFill>
            <a:srgbClr val="FFFFFF">
              <a:alpha val="10000"/>
            </a:srgbClr>
          </a:solidFill>
          <a:ln w="12700">
            <a:solidFill>
              <a:srgbClr val="FFFFFF">
                <a:alpha val="30000"/>
              </a:srgbClr>
            </a:solidFill>
            <a:prstDash val="solid"/>
          </a:ln>
        </p:spPr>
      </p:sp>
      <p:sp>
        <p:nvSpPr>
          <p:cNvPr id="5" name="Shape 3"/>
          <p:cNvSpPr/>
          <p:nvPr/>
        </p:nvSpPr>
        <p:spPr>
          <a:xfrm>
            <a:off x="365760" y="1280160"/>
            <a:ext cx="3566160" cy="54864"/>
          </a:xfrm>
          <a:prstGeom prst="rect">
            <a:avLst/>
          </a:prstGeom>
          <a:solidFill>
            <a:srgbClr val="3B82F6"/>
          </a:solidFill>
          <a:ln w="12700">
            <a:solidFill>
              <a:srgbClr val="3B82F6"/>
            </a:solidFill>
            <a:prstDash val="solid"/>
          </a:ln>
        </p:spPr>
      </p:sp>
      <p:sp>
        <p:nvSpPr>
          <p:cNvPr id="6" name="Text 4"/>
          <p:cNvSpPr/>
          <p:nvPr/>
        </p:nvSpPr>
        <p:spPr>
          <a:xfrm>
            <a:off x="365760" y="1389888"/>
            <a:ext cx="3566160" cy="777240"/>
          </a:xfrm>
          <a:prstGeom prst="rect">
            <a:avLst/>
          </a:prstGeom>
          <a:noFill/>
          <a:ln/>
        </p:spPr>
        <p:txBody>
          <a:bodyPr wrap="square" rtlCol="0" anchor="ctr"/>
          <a:lstStyle/>
          <a:p>
            <a:pPr marL="0" indent="0" algn="ctr">
              <a:buNone/>
            </a:pPr>
            <a:r>
              <a:rPr lang="en-US" sz="4000" b="1" dirty="0">
                <a:solidFill>
                  <a:srgbClr val="3B82F6"/>
                </a:solidFill>
                <a:latin typeface="Trebuchet MS" pitchFamily="34" charset="0"/>
                <a:ea typeface="Trebuchet MS" pitchFamily="34" charset="-122"/>
                <a:cs typeface="Trebuchet MS" pitchFamily="34" charset="-120"/>
              </a:rPr>
              <a:t>80%</a:t>
            </a:r>
            <a:endParaRPr lang="en-US" sz="4000" dirty="0"/>
          </a:p>
        </p:txBody>
      </p:sp>
      <p:sp>
        <p:nvSpPr>
          <p:cNvPr id="7" name="Text 5"/>
          <p:cNvSpPr/>
          <p:nvPr/>
        </p:nvSpPr>
        <p:spPr>
          <a:xfrm>
            <a:off x="365760" y="2148840"/>
            <a:ext cx="356616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Reduction in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Planning Effort</a:t>
            </a:r>
            <a:endParaRPr lang="en-US" sz="1100" dirty="0"/>
          </a:p>
        </p:txBody>
      </p:sp>
      <p:sp>
        <p:nvSpPr>
          <p:cNvPr id="8" name="Text 6"/>
          <p:cNvSpPr/>
          <p:nvPr/>
        </p:nvSpPr>
        <p:spPr>
          <a:xfrm>
            <a:off x="457200" y="2578608"/>
            <a:ext cx="3383280" cy="50292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Planners shift from manual data gathering to exception management</a:t>
            </a:r>
            <a:endParaRPr lang="en-US" sz="900" dirty="0"/>
          </a:p>
        </p:txBody>
      </p:sp>
      <p:sp>
        <p:nvSpPr>
          <p:cNvPr id="9" name="Shape 7"/>
          <p:cNvSpPr/>
          <p:nvPr/>
        </p:nvSpPr>
        <p:spPr>
          <a:xfrm>
            <a:off x="4206240" y="1280160"/>
            <a:ext cx="3566160" cy="1920240"/>
          </a:xfrm>
          <a:prstGeom prst="rect">
            <a:avLst/>
          </a:prstGeom>
          <a:solidFill>
            <a:srgbClr val="FFFFFF">
              <a:alpha val="10000"/>
            </a:srgbClr>
          </a:solidFill>
          <a:ln w="12700">
            <a:solidFill>
              <a:srgbClr val="FFFFFF">
                <a:alpha val="30000"/>
              </a:srgbClr>
            </a:solidFill>
            <a:prstDash val="solid"/>
          </a:ln>
        </p:spPr>
      </p:sp>
      <p:sp>
        <p:nvSpPr>
          <p:cNvPr id="10" name="Shape 8"/>
          <p:cNvSpPr/>
          <p:nvPr/>
        </p:nvSpPr>
        <p:spPr>
          <a:xfrm>
            <a:off x="4206240" y="1280160"/>
            <a:ext cx="3566160" cy="54864"/>
          </a:xfrm>
          <a:prstGeom prst="rect">
            <a:avLst/>
          </a:prstGeom>
          <a:solidFill>
            <a:srgbClr val="34D399"/>
          </a:solidFill>
          <a:ln w="12700">
            <a:solidFill>
              <a:srgbClr val="34D399"/>
            </a:solidFill>
            <a:prstDash val="solid"/>
          </a:ln>
        </p:spPr>
      </p:sp>
      <p:sp>
        <p:nvSpPr>
          <p:cNvPr id="11" name="Text 9"/>
          <p:cNvSpPr/>
          <p:nvPr/>
        </p:nvSpPr>
        <p:spPr>
          <a:xfrm>
            <a:off x="4206240" y="1389888"/>
            <a:ext cx="3566160" cy="777240"/>
          </a:xfrm>
          <a:prstGeom prst="rect">
            <a:avLst/>
          </a:prstGeom>
          <a:noFill/>
          <a:ln/>
        </p:spPr>
        <p:txBody>
          <a:bodyPr wrap="square" rtlCol="0" anchor="ctr"/>
          <a:lstStyle/>
          <a:p>
            <a:pPr marL="0" indent="0" algn="ctr">
              <a:buNone/>
            </a:pPr>
            <a:r>
              <a:rPr lang="en-US" sz="4000" b="1" dirty="0">
                <a:solidFill>
                  <a:srgbClr val="34D399"/>
                </a:solidFill>
                <a:latin typeface="Trebuchet MS" pitchFamily="34" charset="0"/>
                <a:ea typeface="Trebuchet MS" pitchFamily="34" charset="-122"/>
                <a:cs typeface="Trebuchet MS" pitchFamily="34" charset="-120"/>
              </a:rPr>
              <a:t>60–70%</a:t>
            </a:r>
            <a:endParaRPr lang="en-US" sz="4000" dirty="0"/>
          </a:p>
        </p:txBody>
      </p:sp>
      <p:sp>
        <p:nvSpPr>
          <p:cNvPr id="12" name="Text 10"/>
          <p:cNvSpPr/>
          <p:nvPr/>
        </p:nvSpPr>
        <p:spPr>
          <a:xfrm>
            <a:off x="4206240" y="2148840"/>
            <a:ext cx="356616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Reduction in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Stock-outs</a:t>
            </a:r>
            <a:endParaRPr lang="en-US" sz="1100" dirty="0"/>
          </a:p>
        </p:txBody>
      </p:sp>
      <p:sp>
        <p:nvSpPr>
          <p:cNvPr id="13" name="Text 11"/>
          <p:cNvSpPr/>
          <p:nvPr/>
        </p:nvSpPr>
        <p:spPr>
          <a:xfrm>
            <a:off x="4297680" y="2578608"/>
            <a:ext cx="3383280" cy="50292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Proactive demand-driven replenishment eliminates reactive firefighting</a:t>
            </a:r>
            <a:endParaRPr lang="en-US" sz="900" dirty="0"/>
          </a:p>
        </p:txBody>
      </p:sp>
      <p:sp>
        <p:nvSpPr>
          <p:cNvPr id="14" name="Shape 12"/>
          <p:cNvSpPr/>
          <p:nvPr/>
        </p:nvSpPr>
        <p:spPr>
          <a:xfrm>
            <a:off x="8046720" y="1280160"/>
            <a:ext cx="3566160" cy="1920240"/>
          </a:xfrm>
          <a:prstGeom prst="rect">
            <a:avLst/>
          </a:prstGeom>
          <a:solidFill>
            <a:srgbClr val="FFFFFF">
              <a:alpha val="10000"/>
            </a:srgbClr>
          </a:solidFill>
          <a:ln w="12700">
            <a:solidFill>
              <a:srgbClr val="FFFFFF">
                <a:alpha val="30000"/>
              </a:srgbClr>
            </a:solidFill>
            <a:prstDash val="solid"/>
          </a:ln>
        </p:spPr>
      </p:sp>
      <p:sp>
        <p:nvSpPr>
          <p:cNvPr id="15" name="Shape 13"/>
          <p:cNvSpPr/>
          <p:nvPr/>
        </p:nvSpPr>
        <p:spPr>
          <a:xfrm>
            <a:off x="8046720" y="1280160"/>
            <a:ext cx="3566160" cy="54864"/>
          </a:xfrm>
          <a:prstGeom prst="rect">
            <a:avLst/>
          </a:prstGeom>
          <a:solidFill>
            <a:srgbClr val="FBBF24"/>
          </a:solidFill>
          <a:ln w="12700">
            <a:solidFill>
              <a:srgbClr val="FBBF24"/>
            </a:solidFill>
            <a:prstDash val="solid"/>
          </a:ln>
        </p:spPr>
      </p:sp>
      <p:sp>
        <p:nvSpPr>
          <p:cNvPr id="16" name="Text 14"/>
          <p:cNvSpPr/>
          <p:nvPr/>
        </p:nvSpPr>
        <p:spPr>
          <a:xfrm>
            <a:off x="8046720" y="1389888"/>
            <a:ext cx="3566160" cy="777240"/>
          </a:xfrm>
          <a:prstGeom prst="rect">
            <a:avLst/>
          </a:prstGeom>
          <a:noFill/>
          <a:ln/>
        </p:spPr>
        <p:txBody>
          <a:bodyPr wrap="square" rtlCol="0" anchor="ctr"/>
          <a:lstStyle/>
          <a:p>
            <a:pPr marL="0" indent="0" algn="ctr">
              <a:buNone/>
            </a:pPr>
            <a:r>
              <a:rPr lang="en-US" sz="4000" b="1" dirty="0">
                <a:solidFill>
                  <a:srgbClr val="FBBF24"/>
                </a:solidFill>
                <a:latin typeface="Trebuchet MS" pitchFamily="34" charset="0"/>
                <a:ea typeface="Trebuchet MS" pitchFamily="34" charset="-122"/>
                <a:cs typeface="Trebuchet MS" pitchFamily="34" charset="-120"/>
              </a:rPr>
              <a:t>20–30%</a:t>
            </a:r>
            <a:endParaRPr lang="en-US" sz="4000" dirty="0"/>
          </a:p>
        </p:txBody>
      </p:sp>
      <p:sp>
        <p:nvSpPr>
          <p:cNvPr id="17" name="Text 15"/>
          <p:cNvSpPr/>
          <p:nvPr/>
        </p:nvSpPr>
        <p:spPr>
          <a:xfrm>
            <a:off x="8046720" y="2148840"/>
            <a:ext cx="356616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Reduction in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Inventory Wastage</a:t>
            </a:r>
            <a:endParaRPr lang="en-US" sz="1100" dirty="0"/>
          </a:p>
        </p:txBody>
      </p:sp>
      <p:sp>
        <p:nvSpPr>
          <p:cNvPr id="18" name="Text 16"/>
          <p:cNvSpPr/>
          <p:nvPr/>
        </p:nvSpPr>
        <p:spPr>
          <a:xfrm>
            <a:off x="8138160" y="2578608"/>
            <a:ext cx="3383280" cy="50292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Right-sized procurement reduces excess perishable inventory</a:t>
            </a:r>
            <a:endParaRPr lang="en-US" sz="900" dirty="0"/>
          </a:p>
        </p:txBody>
      </p:sp>
      <p:sp>
        <p:nvSpPr>
          <p:cNvPr id="19" name="Shape 17"/>
          <p:cNvSpPr/>
          <p:nvPr/>
        </p:nvSpPr>
        <p:spPr>
          <a:xfrm>
            <a:off x="365760" y="3566160"/>
            <a:ext cx="3566160" cy="1920240"/>
          </a:xfrm>
          <a:prstGeom prst="rect">
            <a:avLst/>
          </a:prstGeom>
          <a:solidFill>
            <a:srgbClr val="FFFFFF">
              <a:alpha val="10000"/>
            </a:srgbClr>
          </a:solidFill>
          <a:ln w="12700">
            <a:solidFill>
              <a:srgbClr val="FFFFFF">
                <a:alpha val="30000"/>
              </a:srgbClr>
            </a:solidFill>
            <a:prstDash val="solid"/>
          </a:ln>
        </p:spPr>
      </p:sp>
      <p:sp>
        <p:nvSpPr>
          <p:cNvPr id="20" name="Shape 18"/>
          <p:cNvSpPr/>
          <p:nvPr/>
        </p:nvSpPr>
        <p:spPr>
          <a:xfrm>
            <a:off x="365760" y="3566160"/>
            <a:ext cx="3566160" cy="54864"/>
          </a:xfrm>
          <a:prstGeom prst="rect">
            <a:avLst/>
          </a:prstGeom>
          <a:solidFill>
            <a:srgbClr val="A78BFA"/>
          </a:solidFill>
          <a:ln w="12700">
            <a:solidFill>
              <a:srgbClr val="A78BFA"/>
            </a:solidFill>
            <a:prstDash val="solid"/>
          </a:ln>
        </p:spPr>
      </p:sp>
      <p:sp>
        <p:nvSpPr>
          <p:cNvPr id="21" name="Text 19"/>
          <p:cNvSpPr/>
          <p:nvPr/>
        </p:nvSpPr>
        <p:spPr>
          <a:xfrm>
            <a:off x="365760" y="3675888"/>
            <a:ext cx="3566160" cy="777240"/>
          </a:xfrm>
          <a:prstGeom prst="rect">
            <a:avLst/>
          </a:prstGeom>
          <a:noFill/>
          <a:ln/>
        </p:spPr>
        <p:txBody>
          <a:bodyPr wrap="square" rtlCol="0" anchor="ctr"/>
          <a:lstStyle/>
          <a:p>
            <a:pPr marL="0" indent="0" algn="ctr">
              <a:buNone/>
            </a:pPr>
            <a:r>
              <a:rPr lang="en-US" sz="4000" b="1" dirty="0">
                <a:solidFill>
                  <a:srgbClr val="A78BFA"/>
                </a:solidFill>
                <a:latin typeface="Trebuchet MS" pitchFamily="34" charset="0"/>
                <a:ea typeface="Trebuchet MS" pitchFamily="34" charset="-122"/>
                <a:cs typeface="Trebuchet MS" pitchFamily="34" charset="-120"/>
              </a:rPr>
              <a:t>85–90%</a:t>
            </a:r>
            <a:endParaRPr lang="en-US" sz="4000" dirty="0"/>
          </a:p>
        </p:txBody>
      </p:sp>
      <p:sp>
        <p:nvSpPr>
          <p:cNvPr id="22" name="Text 20"/>
          <p:cNvSpPr/>
          <p:nvPr/>
        </p:nvSpPr>
        <p:spPr>
          <a:xfrm>
            <a:off x="365760" y="4434840"/>
            <a:ext cx="356616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Target Forecast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Accuracy (Phase 2)</a:t>
            </a:r>
            <a:endParaRPr lang="en-US" sz="1100" dirty="0"/>
          </a:p>
        </p:txBody>
      </p:sp>
      <p:sp>
        <p:nvSpPr>
          <p:cNvPr id="23" name="Text 21"/>
          <p:cNvSpPr/>
          <p:nvPr/>
        </p:nvSpPr>
        <p:spPr>
          <a:xfrm>
            <a:off x="457200" y="4864608"/>
            <a:ext cx="3383280" cy="50292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From current ~50% accuracy to a statistical, data-driven model</a:t>
            </a:r>
            <a:endParaRPr lang="en-US" sz="900" dirty="0"/>
          </a:p>
        </p:txBody>
      </p:sp>
      <p:sp>
        <p:nvSpPr>
          <p:cNvPr id="24" name="Shape 22"/>
          <p:cNvSpPr/>
          <p:nvPr/>
        </p:nvSpPr>
        <p:spPr>
          <a:xfrm>
            <a:off x="4206240" y="3566160"/>
            <a:ext cx="3566160" cy="1920240"/>
          </a:xfrm>
          <a:prstGeom prst="rect">
            <a:avLst/>
          </a:prstGeom>
          <a:solidFill>
            <a:srgbClr val="FFFFFF">
              <a:alpha val="10000"/>
            </a:srgbClr>
          </a:solidFill>
          <a:ln w="12700">
            <a:solidFill>
              <a:srgbClr val="FFFFFF">
                <a:alpha val="30000"/>
              </a:srgbClr>
            </a:solidFill>
            <a:prstDash val="solid"/>
          </a:ln>
        </p:spPr>
      </p:sp>
      <p:sp>
        <p:nvSpPr>
          <p:cNvPr id="25" name="Shape 23"/>
          <p:cNvSpPr/>
          <p:nvPr/>
        </p:nvSpPr>
        <p:spPr>
          <a:xfrm>
            <a:off x="4206240" y="3566160"/>
            <a:ext cx="3566160" cy="54864"/>
          </a:xfrm>
          <a:prstGeom prst="rect">
            <a:avLst/>
          </a:prstGeom>
          <a:solidFill>
            <a:srgbClr val="F87171"/>
          </a:solidFill>
          <a:ln w="12700">
            <a:solidFill>
              <a:srgbClr val="F87171"/>
            </a:solidFill>
            <a:prstDash val="solid"/>
          </a:ln>
        </p:spPr>
      </p:sp>
      <p:sp>
        <p:nvSpPr>
          <p:cNvPr id="26" name="Text 24"/>
          <p:cNvSpPr/>
          <p:nvPr/>
        </p:nvSpPr>
        <p:spPr>
          <a:xfrm>
            <a:off x="4206240" y="3675888"/>
            <a:ext cx="3566160" cy="777240"/>
          </a:xfrm>
          <a:prstGeom prst="rect">
            <a:avLst/>
          </a:prstGeom>
          <a:noFill/>
          <a:ln/>
        </p:spPr>
        <p:txBody>
          <a:bodyPr wrap="square" rtlCol="0" anchor="ctr"/>
          <a:lstStyle/>
          <a:p>
            <a:pPr marL="0" indent="0" algn="ctr">
              <a:buNone/>
            </a:pPr>
            <a:r>
              <a:rPr lang="en-US" sz="4000" b="1" dirty="0">
                <a:solidFill>
                  <a:srgbClr val="F87171"/>
                </a:solidFill>
                <a:latin typeface="Trebuchet MS" pitchFamily="34" charset="0"/>
                <a:ea typeface="Trebuchet MS" pitchFamily="34" charset="-122"/>
                <a:cs typeface="Trebuchet MS" pitchFamily="34" charset="-120"/>
              </a:rPr>
              <a:t>100%</a:t>
            </a:r>
            <a:endParaRPr lang="en-US" sz="4000" dirty="0"/>
          </a:p>
        </p:txBody>
      </p:sp>
      <p:sp>
        <p:nvSpPr>
          <p:cNvPr id="27" name="Text 25"/>
          <p:cNvSpPr/>
          <p:nvPr/>
        </p:nvSpPr>
        <p:spPr>
          <a:xfrm>
            <a:off x="4206240" y="4434840"/>
            <a:ext cx="356616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Automated Procurement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Recommendations</a:t>
            </a:r>
            <a:endParaRPr lang="en-US" sz="1100" dirty="0"/>
          </a:p>
        </p:txBody>
      </p:sp>
      <p:sp>
        <p:nvSpPr>
          <p:cNvPr id="28" name="Text 26"/>
          <p:cNvSpPr/>
          <p:nvPr/>
        </p:nvSpPr>
        <p:spPr>
          <a:xfrm>
            <a:off x="4297680" y="4864608"/>
            <a:ext cx="3383280" cy="50292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Purchase orders backed by data — not planner gut feel</a:t>
            </a:r>
            <a:endParaRPr lang="en-US" sz="900" dirty="0"/>
          </a:p>
        </p:txBody>
      </p:sp>
      <p:sp>
        <p:nvSpPr>
          <p:cNvPr id="29" name="Shape 27"/>
          <p:cNvSpPr/>
          <p:nvPr/>
        </p:nvSpPr>
        <p:spPr>
          <a:xfrm>
            <a:off x="8046720" y="3566160"/>
            <a:ext cx="3566160" cy="1920240"/>
          </a:xfrm>
          <a:prstGeom prst="rect">
            <a:avLst/>
          </a:prstGeom>
          <a:solidFill>
            <a:srgbClr val="FFFFFF">
              <a:alpha val="10000"/>
            </a:srgbClr>
          </a:solidFill>
          <a:ln w="12700">
            <a:solidFill>
              <a:srgbClr val="FFFFFF">
                <a:alpha val="30000"/>
              </a:srgbClr>
            </a:solidFill>
            <a:prstDash val="solid"/>
          </a:ln>
        </p:spPr>
      </p:sp>
      <p:sp>
        <p:nvSpPr>
          <p:cNvPr id="30" name="Shape 28"/>
          <p:cNvSpPr/>
          <p:nvPr/>
        </p:nvSpPr>
        <p:spPr>
          <a:xfrm>
            <a:off x="8046720" y="3566160"/>
            <a:ext cx="3566160" cy="54864"/>
          </a:xfrm>
          <a:prstGeom prst="rect">
            <a:avLst/>
          </a:prstGeom>
          <a:solidFill>
            <a:srgbClr val="2DD4BF"/>
          </a:solidFill>
          <a:ln w="12700">
            <a:solidFill>
              <a:srgbClr val="2DD4BF"/>
            </a:solidFill>
            <a:prstDash val="solid"/>
          </a:ln>
        </p:spPr>
      </p:sp>
      <p:sp>
        <p:nvSpPr>
          <p:cNvPr id="31" name="Text 29"/>
          <p:cNvSpPr/>
          <p:nvPr/>
        </p:nvSpPr>
        <p:spPr>
          <a:xfrm>
            <a:off x="8046720" y="3675888"/>
            <a:ext cx="3566160" cy="777240"/>
          </a:xfrm>
          <a:prstGeom prst="rect">
            <a:avLst/>
          </a:prstGeom>
          <a:noFill/>
          <a:ln/>
        </p:spPr>
        <p:txBody>
          <a:bodyPr wrap="square" rtlCol="0" anchor="ctr"/>
          <a:lstStyle/>
          <a:p>
            <a:pPr marL="0" indent="0" algn="ctr">
              <a:buNone/>
            </a:pPr>
            <a:r>
              <a:rPr lang="en-US" sz="4000" b="1" dirty="0">
                <a:solidFill>
                  <a:srgbClr val="2DD4BF"/>
                </a:solidFill>
                <a:latin typeface="Trebuchet MS" pitchFamily="34" charset="0"/>
                <a:ea typeface="Trebuchet MS" pitchFamily="34" charset="-122"/>
                <a:cs typeface="Trebuchet MS" pitchFamily="34" charset="-120"/>
              </a:rPr>
              <a:t>15–25%</a:t>
            </a:r>
            <a:endParaRPr lang="en-US" sz="4000" dirty="0"/>
          </a:p>
        </p:txBody>
      </p:sp>
      <p:sp>
        <p:nvSpPr>
          <p:cNvPr id="32" name="Text 30"/>
          <p:cNvSpPr/>
          <p:nvPr/>
        </p:nvSpPr>
        <p:spPr>
          <a:xfrm>
            <a:off x="8046720" y="4434840"/>
            <a:ext cx="356616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Working Capital</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Optimization</a:t>
            </a:r>
            <a:endParaRPr lang="en-US" sz="1100" dirty="0"/>
          </a:p>
        </p:txBody>
      </p:sp>
      <p:sp>
        <p:nvSpPr>
          <p:cNvPr id="33" name="Text 31"/>
          <p:cNvSpPr/>
          <p:nvPr/>
        </p:nvSpPr>
        <p:spPr>
          <a:xfrm>
            <a:off x="8138160" y="4864608"/>
            <a:ext cx="3383280" cy="502920"/>
          </a:xfrm>
          <a:prstGeom prst="rect">
            <a:avLst/>
          </a:prstGeom>
          <a:noFill/>
          <a:ln/>
        </p:spPr>
        <p:txBody>
          <a:bodyPr wrap="square" rtlCol="0" anchor="ctr"/>
          <a:lstStyle/>
          <a:p>
            <a:pPr marL="0" indent="0" algn="ctr">
              <a:buNone/>
            </a:pPr>
            <a:r>
              <a:rPr lang="en-US" sz="900" dirty="0">
                <a:solidFill>
                  <a:srgbClr val="93C5FD"/>
                </a:solidFill>
                <a:latin typeface="Calibri" pitchFamily="34" charset="0"/>
                <a:ea typeface="Calibri" pitchFamily="34" charset="-122"/>
                <a:cs typeface="Calibri" pitchFamily="34" charset="-120"/>
              </a:rPr>
              <a:t>Leaner inventory cycles improve cash flow across all brands</a:t>
            </a:r>
            <a:endParaRPr lang="en-US" sz="900" dirty="0"/>
          </a:p>
        </p:txBody>
      </p:sp>
      <p:sp>
        <p:nvSpPr>
          <p:cNvPr id="34" name="Shape 32"/>
          <p:cNvSpPr/>
          <p:nvPr/>
        </p:nvSpPr>
        <p:spPr>
          <a:xfrm>
            <a:off x="0" y="6126480"/>
            <a:ext cx="12161520" cy="731520"/>
          </a:xfrm>
          <a:prstGeom prst="rect">
            <a:avLst/>
          </a:prstGeom>
          <a:solidFill>
            <a:srgbClr val="1A56C4"/>
          </a:solidFill>
          <a:ln w="12700">
            <a:solidFill>
              <a:srgbClr val="1A56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1443</TotalTime>
  <Words>2507</Words>
  <Application>Microsoft Office PowerPoint</Application>
  <PresentationFormat>Widescreen</PresentationFormat>
  <Paragraphs>492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Demand Planning Engine – BRD</dc:title>
  <dc:subject>PptxGenJS Presentation</dc:subject>
  <dc:creator>PptxGenJS</dc:creator>
  <cp:lastModifiedBy>STEPHIN SUNNY</cp:lastModifiedBy>
  <cp:revision>3</cp:revision>
  <dcterms:created xsi:type="dcterms:W3CDTF">2026-06-04T06:11:46Z</dcterms:created>
  <dcterms:modified xsi:type="dcterms:W3CDTF">2026-06-18T10:56:31Z</dcterms:modified>
</cp:coreProperties>
</file>